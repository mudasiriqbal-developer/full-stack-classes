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43" r:id="rId1"/>
  </p:sldMasterIdLst>
  <p:notesMasterIdLst>
    <p:notesMasterId r:id="rId34"/>
  </p:notesMasterIdLst>
  <p:sldIdLst>
    <p:sldId id="297" r:id="rId2"/>
    <p:sldId id="289" r:id="rId3"/>
    <p:sldId id="259" r:id="rId4"/>
    <p:sldId id="260" r:id="rId5"/>
    <p:sldId id="261" r:id="rId6"/>
    <p:sldId id="262" r:id="rId7"/>
    <p:sldId id="263" r:id="rId8"/>
    <p:sldId id="264" r:id="rId9"/>
    <p:sldId id="290" r:id="rId10"/>
    <p:sldId id="295" r:id="rId11"/>
    <p:sldId id="294" r:id="rId12"/>
    <p:sldId id="291" r:id="rId13"/>
    <p:sldId id="292" r:id="rId14"/>
    <p:sldId id="293" r:id="rId15"/>
    <p:sldId id="275" r:id="rId16"/>
    <p:sldId id="277" r:id="rId17"/>
    <p:sldId id="276" r:id="rId18"/>
    <p:sldId id="278" r:id="rId19"/>
    <p:sldId id="279" r:id="rId20"/>
    <p:sldId id="280" r:id="rId21"/>
    <p:sldId id="281" r:id="rId22"/>
    <p:sldId id="282" r:id="rId23"/>
    <p:sldId id="283" r:id="rId24"/>
    <p:sldId id="265" r:id="rId25"/>
    <p:sldId id="268" r:id="rId26"/>
    <p:sldId id="286" r:id="rId27"/>
    <p:sldId id="287" r:id="rId28"/>
    <p:sldId id="266" r:id="rId29"/>
    <p:sldId id="296" r:id="rId30"/>
    <p:sldId id="269" r:id="rId31"/>
    <p:sldId id="284" r:id="rId32"/>
    <p:sldId id="285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-726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45979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8199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9309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9906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0158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9012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63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7167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4419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9129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6929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9714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14813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5922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5394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1314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2644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88612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4258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884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87455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0341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07488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85680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1915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32895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53007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72584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7195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9a6e149e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9a6e149e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72289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946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352" tIns="91352" rIns="91352" bIns="91352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352" tIns="91352" rIns="91352" bIns="91352" anchor="t" anchorCtr="0">
            <a:normAutofit/>
          </a:bodyPr>
          <a:lstStyle>
            <a:lvl1pPr marL="456836" lvl="0" indent="-342627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3672" lvl="1" indent="-3172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0508" lvl="2" indent="-3172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7344" lvl="3" indent="-3172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4181" lvl="4" indent="-3172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1016" lvl="5" indent="-3172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197852" lvl="6" indent="-317248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4690" lvl="7" indent="-317248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1528" lvl="8" indent="-31724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352" tIns="91352" rIns="91352" bIns="91352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Introduction of CSS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36998" y="1664412"/>
            <a:ext cx="79521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CSS stands for </a:t>
            </a:r>
            <a:r>
              <a:rPr lang="en-GB" sz="2000" b="1" dirty="0"/>
              <a:t>Cascading Style Sheets</a:t>
            </a:r>
            <a:r>
              <a:rPr lang="en-GB" sz="2000" dirty="0"/>
              <a:t>.</a:t>
            </a:r>
            <a:br>
              <a:rPr lang="en-GB" sz="2000" dirty="0"/>
            </a:br>
            <a:r>
              <a:rPr lang="en-GB" sz="2000" dirty="0"/>
              <a:t>It is a </a:t>
            </a:r>
            <a:r>
              <a:rPr lang="en-GB" sz="2000" b="1" dirty="0"/>
              <a:t>styling language</a:t>
            </a:r>
            <a:r>
              <a:rPr lang="en-GB" sz="2000" dirty="0"/>
              <a:t> used to </a:t>
            </a:r>
            <a:r>
              <a:rPr lang="en-GB" sz="2000" dirty="0" smtClean="0"/>
              <a:t>describe</a:t>
            </a:r>
            <a:br>
              <a:rPr lang="en-GB" sz="2000" dirty="0" smtClean="0"/>
            </a:br>
            <a:r>
              <a:rPr lang="en-GB" sz="2000" dirty="0" smtClean="0"/>
              <a:t>how </a:t>
            </a:r>
            <a:r>
              <a:rPr lang="en-GB" sz="2000" dirty="0"/>
              <a:t>HTML elements should look on a web page</a:t>
            </a:r>
            <a:r>
              <a:rPr lang="en-GB" sz="2000" dirty="0" smtClean="0"/>
              <a:t>.</a:t>
            </a:r>
          </a:p>
          <a:p>
            <a:r>
              <a:rPr lang="en-GB" sz="2000" dirty="0"/>
              <a:t>The word </a:t>
            </a:r>
            <a:r>
              <a:rPr lang="en-GB" sz="2000" b="1" dirty="0"/>
              <a:t>cascading</a:t>
            </a:r>
            <a:r>
              <a:rPr lang="en-GB" sz="2000" dirty="0"/>
              <a:t> refers to how </a:t>
            </a:r>
            <a:r>
              <a:rPr lang="en-GB" sz="2000" b="1" dirty="0"/>
              <a:t>multiple CSS rules</a:t>
            </a:r>
            <a:r>
              <a:rPr lang="en-GB" sz="2000" dirty="0"/>
              <a:t> are applied to the same element when there are conflicts.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278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D886C22-AD09-47B3-AC72-A27CA86EEA93}"/>
              </a:ext>
            </a:extLst>
          </p:cNvPr>
          <p:cNvSpPr/>
          <p:nvPr/>
        </p:nvSpPr>
        <p:spPr>
          <a:xfrm>
            <a:off x="458585" y="789481"/>
            <a:ext cx="1276166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CSS?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95E06E7-A8F3-4A1C-8DB6-2BCF402C0815}"/>
              </a:ext>
            </a:extLst>
          </p:cNvPr>
          <p:cNvSpPr/>
          <p:nvPr/>
        </p:nvSpPr>
        <p:spPr>
          <a:xfrm>
            <a:off x="564361" y="1128040"/>
            <a:ext cx="7376362" cy="3139321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Cascading Style Sheets (CSS) is a stylesheet language used to describe the presentation of a document written in HTML.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CSS?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Separation of Concerns: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Keeps HTML clean by separating content from design.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Reusability: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Enables consistent styling across multiple pages using one stylesheet.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User Experience: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Offers visually appealing and responsive designs.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History and Evolution: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CSS1 (1996):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Introduced basic styling capabilities.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CSS2 (1998):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Added media types, positioning, and table layouts.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CSS3 (1999-Present):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Modular approach, animations, transitions, and responsive design.</a:t>
            </a:r>
          </a:p>
        </p:txBody>
      </p:sp>
    </p:spTree>
    <p:extLst>
      <p:ext uri="{BB962C8B-B14F-4D97-AF65-F5344CB8AC3E}">
        <p14:creationId xmlns:p14="http://schemas.microsoft.com/office/powerpoint/2010/main" val="11654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7A3A1B5-857B-4310-B916-E0AEFA3AFC66}"/>
              </a:ext>
            </a:extLst>
          </p:cNvPr>
          <p:cNvSpPr/>
          <p:nvPr/>
        </p:nvSpPr>
        <p:spPr>
          <a:xfrm>
            <a:off x="458884" y="749650"/>
            <a:ext cx="2181862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of a CSS Rule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3383140-7FEA-4897-803C-0821DFCCF855}"/>
              </a:ext>
            </a:extLst>
          </p:cNvPr>
          <p:cNvSpPr/>
          <p:nvPr/>
        </p:nvSpPr>
        <p:spPr>
          <a:xfrm>
            <a:off x="879670" y="1088205"/>
            <a:ext cx="2085682" cy="1015582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selector {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property: value;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ABFC72B0-315F-4767-9F69-B09DA8A437FA}"/>
              </a:ext>
            </a:extLst>
          </p:cNvPr>
          <p:cNvSpPr/>
          <p:nvPr/>
        </p:nvSpPr>
        <p:spPr>
          <a:xfrm>
            <a:off x="458886" y="2103870"/>
            <a:ext cx="5298987" cy="784749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Selector: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Targets the HTML element to style (e.g., h1, .class, #id).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Defines the style attribute (e.g., color, font-size).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Specifies the style (e.g., red, 24px).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6C7D5BB-432B-429E-84B0-99814A857EA0}"/>
              </a:ext>
            </a:extLst>
          </p:cNvPr>
          <p:cNvSpPr/>
          <p:nvPr/>
        </p:nvSpPr>
        <p:spPr>
          <a:xfrm>
            <a:off x="425056" y="2888698"/>
            <a:ext cx="909078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C3F762B-6ACF-4276-B732-B030FDCBF8B3}"/>
              </a:ext>
            </a:extLst>
          </p:cNvPr>
          <p:cNvSpPr/>
          <p:nvPr/>
        </p:nvSpPr>
        <p:spPr>
          <a:xfrm>
            <a:off x="879669" y="3227255"/>
            <a:ext cx="2018356" cy="1323358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 {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color: blue;  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font-size: 24px;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3825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30C6073-E70C-452B-AAA7-6E3083E4FECF}"/>
              </a:ext>
            </a:extLst>
          </p:cNvPr>
          <p:cNvSpPr/>
          <p:nvPr/>
        </p:nvSpPr>
        <p:spPr>
          <a:xfrm>
            <a:off x="478638" y="702237"/>
            <a:ext cx="5575949" cy="800138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 Comments: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 are ignored by browsers and help document your code.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543168E-4347-4B3F-A11A-B91B317FC44F}"/>
              </a:ext>
            </a:extLst>
          </p:cNvPr>
          <p:cNvSpPr/>
          <p:nvPr/>
        </p:nvSpPr>
        <p:spPr>
          <a:xfrm>
            <a:off x="671517" y="1502453"/>
            <a:ext cx="2391856" cy="369251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/* This is a comment */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FD1667E-1260-476D-9014-1B202092041E}"/>
              </a:ext>
            </a:extLst>
          </p:cNvPr>
          <p:cNvSpPr/>
          <p:nvPr/>
        </p:nvSpPr>
        <p:spPr>
          <a:xfrm>
            <a:off x="478631" y="1871787"/>
            <a:ext cx="4572000" cy="1030971"/>
          </a:xfrm>
          <a:prstGeom prst="rect">
            <a:avLst/>
          </a:prstGeom>
        </p:spPr>
        <p:txBody>
          <a:bodyPr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meaningful and readable selectors.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using IDs for styling (prefer classes).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styles modular and reusable.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84285C2-C235-4191-A5EF-5B525E5B9326}"/>
              </a:ext>
            </a:extLst>
          </p:cNvPr>
          <p:cNvSpPr/>
          <p:nvPr/>
        </p:nvSpPr>
        <p:spPr>
          <a:xfrm>
            <a:off x="478637" y="3133665"/>
            <a:ext cx="1622415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Ways to Add CSS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E2DDE9E-4765-4D43-B496-270889A8128F}"/>
              </a:ext>
            </a:extLst>
          </p:cNvPr>
          <p:cNvSpPr/>
          <p:nvPr/>
        </p:nvSpPr>
        <p:spPr>
          <a:xfrm>
            <a:off x="478631" y="3467639"/>
            <a:ext cx="4572000" cy="323085"/>
          </a:xfrm>
          <a:prstGeom prst="rect">
            <a:avLst/>
          </a:prstGeom>
        </p:spPr>
        <p:txBody>
          <a:bodyPr lIns="91368" tIns="45680" rIns="91368" bIns="45680">
            <a:spAutoFit/>
          </a:bodyPr>
          <a:lstStyle/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Inline, Internal and External CSS.</a:t>
            </a:r>
          </a:p>
        </p:txBody>
      </p:sp>
    </p:spTree>
    <p:extLst>
      <p:ext uri="{BB962C8B-B14F-4D97-AF65-F5344CB8AC3E}">
        <p14:creationId xmlns:p14="http://schemas.microsoft.com/office/powerpoint/2010/main" val="352568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DA74A01-F25C-4EB2-AF94-9BE584FAD7DF}"/>
              </a:ext>
            </a:extLst>
          </p:cNvPr>
          <p:cNvSpPr/>
          <p:nvPr/>
        </p:nvSpPr>
        <p:spPr>
          <a:xfrm>
            <a:off x="456020" y="672527"/>
            <a:ext cx="4572000" cy="1723468"/>
          </a:xfrm>
          <a:prstGeom prst="rect">
            <a:avLst/>
          </a:prstGeom>
        </p:spPr>
        <p:txBody>
          <a:bodyPr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Inline CSS: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Applies styles directly within an HTML element.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&lt;h1 style="color: red;"&gt;Hello World&lt;/h1&gt;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Quick and specific.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Difficult to maintain and reuse.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52734C17-7766-4811-99F4-069FC2BE12D9}"/>
              </a:ext>
            </a:extLst>
          </p:cNvPr>
          <p:cNvSpPr/>
          <p:nvPr/>
        </p:nvSpPr>
        <p:spPr>
          <a:xfrm>
            <a:off x="456019" y="2571755"/>
            <a:ext cx="4926471" cy="2031245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CSS: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within the &lt;style&gt; tag in the &lt;head&gt; section of an HTML document.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&lt;style&gt;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h1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color: red;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   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&lt;/style&gt;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8F34319-129B-454F-90D1-BA2163FD2A6E}"/>
              </a:ext>
            </a:extLst>
          </p:cNvPr>
          <p:cNvSpPr/>
          <p:nvPr/>
        </p:nvSpPr>
        <p:spPr>
          <a:xfrm>
            <a:off x="5028027" y="4021667"/>
            <a:ext cx="3221831" cy="523139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Centralized for single-page styling.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reusable across multiple pages.</a:t>
            </a:r>
          </a:p>
        </p:txBody>
      </p:sp>
    </p:spTree>
    <p:extLst>
      <p:ext uri="{BB962C8B-B14F-4D97-AF65-F5344CB8AC3E}">
        <p14:creationId xmlns:p14="http://schemas.microsoft.com/office/powerpoint/2010/main" val="370743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188F88BE-4693-4812-BCE7-0C3F41E0FFAF}"/>
              </a:ext>
            </a:extLst>
          </p:cNvPr>
          <p:cNvSpPr/>
          <p:nvPr/>
        </p:nvSpPr>
        <p:spPr>
          <a:xfrm>
            <a:off x="435775" y="736255"/>
            <a:ext cx="5157787" cy="1547036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CSS: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 via an external file using the &lt;link&gt; tag.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&lt;link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="stylesheet"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="styles.css"&gt;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Ideal for large projects, reusable across multiple pages.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7279753-4923-45AE-A1D2-FC7A8A477366}"/>
              </a:ext>
            </a:extLst>
          </p:cNvPr>
          <p:cNvSpPr/>
          <p:nvPr/>
        </p:nvSpPr>
        <p:spPr>
          <a:xfrm>
            <a:off x="435768" y="2571754"/>
            <a:ext cx="6214414" cy="553917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Create a simple webpage with inline, internal, and external CSS demonstrating different styling methods.</a:t>
            </a:r>
          </a:p>
        </p:txBody>
      </p:sp>
    </p:spTree>
    <p:extLst>
      <p:ext uri="{BB962C8B-B14F-4D97-AF65-F5344CB8AC3E}">
        <p14:creationId xmlns:p14="http://schemas.microsoft.com/office/powerpoint/2010/main" val="17983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FFD6B7B-9992-45F4-B4B5-8189BD9D450F}"/>
              </a:ext>
            </a:extLst>
          </p:cNvPr>
          <p:cNvSpPr/>
          <p:nvPr/>
        </p:nvSpPr>
        <p:spPr>
          <a:xfrm>
            <a:off x="430379" y="767659"/>
            <a:ext cx="1311432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 Selectors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F10E90B-9F78-4118-B02F-24B131D0E87C}"/>
              </a:ext>
            </a:extLst>
          </p:cNvPr>
          <p:cNvSpPr/>
          <p:nvPr/>
        </p:nvSpPr>
        <p:spPr>
          <a:xfrm>
            <a:off x="430375" y="1155479"/>
            <a:ext cx="5441788" cy="2215991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Selectors?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Selectors are used to "select" the elements you want to style.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Selectors: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Universal Selector: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Targets all elements (*)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Selector: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Targets specific HTML tags (h1, p)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Selector: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Targets elements with a specific class (.class)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 Selector: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Targets elements with a specific ID (#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idname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25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4152A0E-2491-40BB-B4C9-8F0D36204B8A}"/>
              </a:ext>
            </a:extLst>
          </p:cNvPr>
          <p:cNvSpPr/>
          <p:nvPr/>
        </p:nvSpPr>
        <p:spPr>
          <a:xfrm>
            <a:off x="557217" y="586592"/>
            <a:ext cx="7329487" cy="1400303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Grouping Selectors: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multiple selectors for shared styles.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h1, p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color: green;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FAA7843-616E-4D0C-97F9-4C5341F6694B}"/>
              </a:ext>
            </a:extLst>
          </p:cNvPr>
          <p:cNvSpPr/>
          <p:nvPr/>
        </p:nvSpPr>
        <p:spPr>
          <a:xfrm>
            <a:off x="557213" y="2135863"/>
            <a:ext cx="5993606" cy="1754786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CSS Properties?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 properties are rules used to style and layout HTML elements.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Use CSS Properties?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aesthetics.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readability and accessibility.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layouts for different devices.</a:t>
            </a:r>
          </a:p>
        </p:txBody>
      </p:sp>
    </p:spTree>
    <p:extLst>
      <p:ext uri="{BB962C8B-B14F-4D97-AF65-F5344CB8AC3E}">
        <p14:creationId xmlns:p14="http://schemas.microsoft.com/office/powerpoint/2010/main" val="338240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FE0CBA4-3BC2-4989-818A-AF9401459469}"/>
              </a:ext>
            </a:extLst>
          </p:cNvPr>
          <p:cNvSpPr/>
          <p:nvPr/>
        </p:nvSpPr>
        <p:spPr>
          <a:xfrm>
            <a:off x="471487" y="681366"/>
            <a:ext cx="6136481" cy="677028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 Transitions &amp; Animations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Transitions: Allow smooth changes between states.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F592646-0DA5-48DA-924A-9954F9AA8514}"/>
              </a:ext>
            </a:extLst>
          </p:cNvPr>
          <p:cNvSpPr/>
          <p:nvPr/>
        </p:nvSpPr>
        <p:spPr>
          <a:xfrm>
            <a:off x="471487" y="1358474"/>
            <a:ext cx="4572000" cy="1558578"/>
          </a:xfrm>
          <a:prstGeom prst="rect">
            <a:avLst/>
          </a:prstGeom>
        </p:spPr>
        <p:txBody>
          <a:bodyPr lIns="91368" tIns="45680" rIns="91368" bIns="4568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.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button:hover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background-color: red;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transition: background-color 0.5s;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777358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37AECD0-1509-475D-BCF6-03FEB46BFDC7}"/>
              </a:ext>
            </a:extLst>
          </p:cNvPr>
          <p:cNvSpPr/>
          <p:nvPr/>
        </p:nvSpPr>
        <p:spPr>
          <a:xfrm>
            <a:off x="464344" y="709946"/>
            <a:ext cx="7015162" cy="369251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Animations: Define keyframes for custom animations.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5742CA2-2F80-4DE5-B0D0-BAE8221FE450}"/>
              </a:ext>
            </a:extLst>
          </p:cNvPr>
          <p:cNvSpPr/>
          <p:nvPr/>
        </p:nvSpPr>
        <p:spPr>
          <a:xfrm>
            <a:off x="464344" y="1517188"/>
            <a:ext cx="7015162" cy="2616020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@keyframes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fadeIn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from { opacity: 0; }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to { opacity: 1; 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.box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animation: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fadeIn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2s ease-in-out;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73348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96BAD3-E097-4FD8-99F7-D5816E55D61B}"/>
              </a:ext>
            </a:extLst>
          </p:cNvPr>
          <p:cNvSpPr/>
          <p:nvPr/>
        </p:nvSpPr>
        <p:spPr>
          <a:xfrm>
            <a:off x="475995" y="667993"/>
            <a:ext cx="7232117" cy="2677575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 Pseudo-classes &amp; Pseudo-elements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Pseudo-classes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a special state of an element.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examples: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:hover - Applies styling when the mouse is over an element.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:focus - Styles an element when it is selected.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:nth-child(n) - Targets specific child elements.</a:t>
            </a:r>
          </a:p>
        </p:txBody>
      </p:sp>
    </p:spTree>
    <p:extLst>
      <p:ext uri="{BB962C8B-B14F-4D97-AF65-F5344CB8AC3E}">
        <p14:creationId xmlns:p14="http://schemas.microsoft.com/office/powerpoint/2010/main" val="315678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98BD1FC-E0ED-4AD4-A832-F4CCF10226DD}"/>
              </a:ext>
            </a:extLst>
          </p:cNvPr>
          <p:cNvSpPr/>
          <p:nvPr/>
        </p:nvSpPr>
        <p:spPr>
          <a:xfrm>
            <a:off x="528638" y="724231"/>
            <a:ext cx="4572000" cy="2646798"/>
          </a:xfrm>
          <a:prstGeom prst="rect">
            <a:avLst/>
          </a:prstGeom>
        </p:spPr>
        <p:txBody>
          <a:bodyPr lIns="91368" tIns="45680" rIns="91368" bIns="4568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button:hover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background-color: blue;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input:focus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border: 2px solid green;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92529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4A45996-F319-4504-BFB9-375DE4A1D888}"/>
              </a:ext>
            </a:extLst>
          </p:cNvPr>
          <p:cNvSpPr/>
          <p:nvPr/>
        </p:nvSpPr>
        <p:spPr>
          <a:xfrm>
            <a:off x="463463" y="656717"/>
            <a:ext cx="6766012" cy="2092800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Pseudo-elements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Style specific parts of an element.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examples: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::first-letter - Styles the first letter of text.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::first-line - Styles the first line of text.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::before &amp; ::after - Insert content before/after an element.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F71875DF-34AA-4D33-A6BD-362B6B82A992}"/>
              </a:ext>
            </a:extLst>
          </p:cNvPr>
          <p:cNvSpPr/>
          <p:nvPr/>
        </p:nvSpPr>
        <p:spPr>
          <a:xfrm>
            <a:off x="399170" y="2749600"/>
            <a:ext cx="4572000" cy="2062022"/>
          </a:xfrm>
          <a:prstGeom prst="rect">
            <a:avLst/>
          </a:prstGeom>
        </p:spPr>
        <p:txBody>
          <a:bodyPr lIns="91368" tIns="45680" rIns="91368" bIns="4568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p::first-letter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font-size: 2em;  color: red;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p::before {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content: "★ ";  color: gold;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35177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1BCE185-319B-49DC-A3E5-A13C53207A90}"/>
              </a:ext>
            </a:extLst>
          </p:cNvPr>
          <p:cNvSpPr/>
          <p:nvPr/>
        </p:nvSpPr>
        <p:spPr>
          <a:xfrm>
            <a:off x="463463" y="651517"/>
            <a:ext cx="6975432" cy="954027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Pseudo-classes affect the whole element based on a condition.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Pseudo-elements style a specific part of an element.</a:t>
            </a:r>
          </a:p>
        </p:txBody>
      </p:sp>
    </p:spTree>
    <p:extLst>
      <p:ext uri="{BB962C8B-B14F-4D97-AF65-F5344CB8AC3E}">
        <p14:creationId xmlns:p14="http://schemas.microsoft.com/office/powerpoint/2010/main" val="418775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5FB8EED-AD9B-4F6B-9FD3-F941ABB5CCAC}"/>
              </a:ext>
            </a:extLst>
          </p:cNvPr>
          <p:cNvSpPr/>
          <p:nvPr/>
        </p:nvSpPr>
        <p:spPr>
          <a:xfrm>
            <a:off x="650081" y="794341"/>
            <a:ext cx="4014788" cy="3093074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Styling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Text Properties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color: red;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Font-Family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font-family: Arial, sans-serif;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Font-Size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font-size: 16px;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Text-Alignment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text-align: center;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7FF19F8-2D45-4A4F-B4CD-06B202B9C33F}"/>
              </a:ext>
            </a:extLst>
          </p:cNvPr>
          <p:cNvSpPr/>
          <p:nvPr/>
        </p:nvSpPr>
        <p:spPr>
          <a:xfrm>
            <a:off x="4664869" y="2466499"/>
            <a:ext cx="3829050" cy="1754246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color: blue;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font-family: "Verdana", sans-serif;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font-size: 18px;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text-align: justify;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D9D507F-2146-420C-822A-2B2B24DDD6ED}"/>
              </a:ext>
            </a:extLst>
          </p:cNvPr>
          <p:cNvSpPr/>
          <p:nvPr/>
        </p:nvSpPr>
        <p:spPr>
          <a:xfrm>
            <a:off x="4314827" y="2127946"/>
            <a:ext cx="1444481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Code:</a:t>
            </a:r>
          </a:p>
        </p:txBody>
      </p:sp>
    </p:spTree>
    <p:extLst>
      <p:ext uri="{BB962C8B-B14F-4D97-AF65-F5344CB8AC3E}">
        <p14:creationId xmlns:p14="http://schemas.microsoft.com/office/powerpoint/2010/main" val="288708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E2091B9-E061-45F5-9C59-64A633081C91}"/>
              </a:ext>
            </a:extLst>
          </p:cNvPr>
          <p:cNvSpPr/>
          <p:nvPr/>
        </p:nvSpPr>
        <p:spPr>
          <a:xfrm>
            <a:off x="450055" y="635468"/>
            <a:ext cx="4572000" cy="2431354"/>
          </a:xfrm>
          <a:prstGeom prst="rect">
            <a:avLst/>
          </a:prstGeom>
        </p:spPr>
        <p:txBody>
          <a:bodyPr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Properties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Background-Color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background-color: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lightgrey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Background-Image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background-image: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url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('image.jpg’);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Background-Position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background-position: center;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F72171F-720B-4F5F-A7CD-950E791122DA}"/>
              </a:ext>
            </a:extLst>
          </p:cNvPr>
          <p:cNvSpPr/>
          <p:nvPr/>
        </p:nvSpPr>
        <p:spPr>
          <a:xfrm>
            <a:off x="557220" y="3407066"/>
            <a:ext cx="4571999" cy="1477247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background-color: #f0f0f0;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background-image: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('pattern.png');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background-position: top left;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F428B97-2B36-4B72-B238-101C0CC8C7D7}"/>
              </a:ext>
            </a:extLst>
          </p:cNvPr>
          <p:cNvSpPr/>
          <p:nvPr/>
        </p:nvSpPr>
        <p:spPr>
          <a:xfrm>
            <a:off x="450055" y="3068511"/>
            <a:ext cx="1444481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Code:</a:t>
            </a:r>
          </a:p>
        </p:txBody>
      </p:sp>
    </p:spTree>
    <p:extLst>
      <p:ext uri="{BB962C8B-B14F-4D97-AF65-F5344CB8AC3E}">
        <p14:creationId xmlns:p14="http://schemas.microsoft.com/office/powerpoint/2010/main" val="185673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61CD487-18F8-4C46-92F5-05922F2FB2D5}"/>
              </a:ext>
            </a:extLst>
          </p:cNvPr>
          <p:cNvSpPr/>
          <p:nvPr/>
        </p:nvSpPr>
        <p:spPr>
          <a:xfrm>
            <a:off x="457200" y="581150"/>
            <a:ext cx="3543300" cy="3554739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Borders</a:t>
            </a:r>
          </a:p>
          <a:p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Border Properties</a:t>
            </a:r>
          </a:p>
          <a:p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Width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border-width: 2px;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Style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border-style: solid;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border-color: black;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Border-Radius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border-radius: 10px;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515F9304-6C18-4019-BC7E-16DBD6978104}"/>
              </a:ext>
            </a:extLst>
          </p:cNvPr>
          <p:cNvSpPr/>
          <p:nvPr/>
        </p:nvSpPr>
        <p:spPr>
          <a:xfrm>
            <a:off x="4786316" y="2741028"/>
            <a:ext cx="2825121" cy="1754246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border-width: 3px;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border-style: dotted;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border-color: green;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border-radius: 15px;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7A5C67-534D-41ED-8BA2-8A14B8F5BA6C}"/>
              </a:ext>
            </a:extLst>
          </p:cNvPr>
          <p:cNvSpPr/>
          <p:nvPr/>
        </p:nvSpPr>
        <p:spPr>
          <a:xfrm>
            <a:off x="4572002" y="2402476"/>
            <a:ext cx="1444481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Code:</a:t>
            </a:r>
          </a:p>
        </p:txBody>
      </p:sp>
    </p:spTree>
    <p:extLst>
      <p:ext uri="{BB962C8B-B14F-4D97-AF65-F5344CB8AC3E}">
        <p14:creationId xmlns:p14="http://schemas.microsoft.com/office/powerpoint/2010/main" val="246446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DE785846-E24E-4ED6-B545-A77AE986B14C}"/>
              </a:ext>
            </a:extLst>
          </p:cNvPr>
          <p:cNvSpPr/>
          <p:nvPr/>
        </p:nvSpPr>
        <p:spPr>
          <a:xfrm>
            <a:off x="461012" y="663565"/>
            <a:ext cx="4060989" cy="2092800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Margins and Padding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Differences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Margins: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Space outside an element.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margin: 20px;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Padding: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Space inside an element, around content.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padding: 15px;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F800457-B4D2-4E7E-9E17-3237FB478751}"/>
              </a:ext>
            </a:extLst>
          </p:cNvPr>
          <p:cNvSpPr/>
          <p:nvPr/>
        </p:nvSpPr>
        <p:spPr>
          <a:xfrm>
            <a:off x="461008" y="2848750"/>
            <a:ext cx="1444481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Code: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1C5EA2A-BA16-4762-84AA-80E90B426B51}"/>
              </a:ext>
            </a:extLst>
          </p:cNvPr>
          <p:cNvSpPr/>
          <p:nvPr/>
        </p:nvSpPr>
        <p:spPr>
          <a:xfrm>
            <a:off x="689605" y="3187306"/>
            <a:ext cx="1741037" cy="1200248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 {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margin: 30px;  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padding: 20px;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249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5317104-9921-40DC-BEA3-BB85B626529B}"/>
              </a:ext>
            </a:extLst>
          </p:cNvPr>
          <p:cNvSpPr/>
          <p:nvPr/>
        </p:nvSpPr>
        <p:spPr>
          <a:xfrm>
            <a:off x="421487" y="673096"/>
            <a:ext cx="5822157" cy="1292581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Responsive Design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Responsive Design?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Adapts the layout to different screen sizes and devices.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usability and aesthetics across platforms.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0A47494-AE76-4DD7-83CB-3FEAA1ED9F69}"/>
              </a:ext>
            </a:extLst>
          </p:cNvPr>
          <p:cNvSpPr/>
          <p:nvPr/>
        </p:nvSpPr>
        <p:spPr>
          <a:xfrm>
            <a:off x="421487" y="1965757"/>
            <a:ext cx="4464843" cy="2677575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 Queries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Basics of Media Queries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@media (max-width: 600px)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body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background-color: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lightblue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626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48924B0-C8EC-40EC-B7BC-A80042C68744}"/>
              </a:ext>
            </a:extLst>
          </p:cNvPr>
          <p:cNvSpPr/>
          <p:nvPr/>
        </p:nvSpPr>
        <p:spPr>
          <a:xfrm>
            <a:off x="507206" y="792840"/>
            <a:ext cx="4572000" cy="2431354"/>
          </a:xfrm>
          <a:prstGeom prst="rect">
            <a:avLst/>
          </a:prstGeom>
        </p:spPr>
        <p:txBody>
          <a:bodyPr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Adjust styles for specific screen sizes.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Code: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@media (min-width: 768px)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p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font-size: 18px;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039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8;g1dd0e243942_0_16">
            <a:extLst>
              <a:ext uri="{FF2B5EF4-FFF2-40B4-BE49-F238E27FC236}">
                <a16:creationId xmlns="" xmlns:a16="http://schemas.microsoft.com/office/drawing/2014/main" id="{4EF8D925-1C11-414E-A2A3-4C6940287F13}"/>
              </a:ext>
            </a:extLst>
          </p:cNvPr>
          <p:cNvSpPr txBox="1"/>
          <p:nvPr/>
        </p:nvSpPr>
        <p:spPr>
          <a:xfrm>
            <a:off x="466703" y="591121"/>
            <a:ext cx="2290785" cy="38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2" tIns="45663" rIns="91352" bIns="45663" anchor="t" anchorCtr="0">
            <a:spAutoFit/>
          </a:bodyPr>
          <a:lstStyle/>
          <a:p>
            <a:pPr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ExtraBold"/>
              </a:rPr>
              <a:t>Understanding Flexbox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Extra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BA9FE87-C41E-4488-8786-1C0FC6F2E28A}"/>
              </a:ext>
            </a:extLst>
          </p:cNvPr>
          <p:cNvSpPr/>
          <p:nvPr/>
        </p:nvSpPr>
        <p:spPr>
          <a:xfrm>
            <a:off x="534580" y="978882"/>
            <a:ext cx="5851934" cy="2985352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Flexbox?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CSS layout module designed for efficient alignment and distribution of elements within a container.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Flexibility, responsiveness, and alignment control.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 Container: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parent element.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15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display: flex;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activate Flexbox.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 Items: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children of the flex container.</a:t>
            </a:r>
          </a:p>
        </p:txBody>
      </p:sp>
    </p:spTree>
    <p:extLst>
      <p:ext uri="{BB962C8B-B14F-4D97-AF65-F5344CB8AC3E}">
        <p14:creationId xmlns:p14="http://schemas.microsoft.com/office/powerpoint/2010/main" val="186642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4285C72-9253-45D8-BDBA-F2A8B22052A0}"/>
              </a:ext>
            </a:extLst>
          </p:cNvPr>
          <p:cNvSpPr/>
          <p:nvPr/>
        </p:nvSpPr>
        <p:spPr>
          <a:xfrm>
            <a:off x="468886" y="676818"/>
            <a:ext cx="7063192" cy="2723742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Flexbox Properties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container: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flex-direction: Defines the direction of items (row, column).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justify-content: Aligns items along the main axis(left to right).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align-items: Aligns items along the cross axis.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flex-wrap: Allows items to wrap onto multiple lines.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 items: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flex-grow, flex-shrink, and flex-basis: Control how items grow, shrink, or occupy space.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17F6A1B-CCC2-4306-BD1B-14C7755F6495}"/>
              </a:ext>
            </a:extLst>
          </p:cNvPr>
          <p:cNvSpPr/>
          <p:nvPr/>
        </p:nvSpPr>
        <p:spPr>
          <a:xfrm>
            <a:off x="468893" y="3762078"/>
            <a:ext cx="2652933" cy="800138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Examples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navigation bar layout.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responsive card grid.</a:t>
            </a:r>
          </a:p>
        </p:txBody>
      </p:sp>
    </p:spTree>
    <p:extLst>
      <p:ext uri="{BB962C8B-B14F-4D97-AF65-F5344CB8AC3E}">
        <p14:creationId xmlns:p14="http://schemas.microsoft.com/office/powerpoint/2010/main" val="308344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4E22641-E909-4E14-859E-C4BD7C6A0D83}"/>
              </a:ext>
            </a:extLst>
          </p:cNvPr>
          <p:cNvSpPr/>
          <p:nvPr/>
        </p:nvSpPr>
        <p:spPr>
          <a:xfrm>
            <a:off x="471341" y="503389"/>
            <a:ext cx="5200798" cy="1547036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Alignment in Flexbox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justify-content: Align items horizontally.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Options: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flex-start, center, space-between, space-around, etc.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align-items: Align items vertically.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Options: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stretch, flex-start, center, etc.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69E67DB5-051B-468A-B5A9-B7A32B72FB3A}"/>
              </a:ext>
            </a:extLst>
          </p:cNvPr>
          <p:cNvSpPr/>
          <p:nvPr/>
        </p:nvSpPr>
        <p:spPr>
          <a:xfrm>
            <a:off x="471340" y="2331794"/>
            <a:ext cx="4953000" cy="1769634"/>
          </a:xfrm>
          <a:prstGeom prst="rect">
            <a:avLst/>
          </a:prstGeom>
        </p:spPr>
        <p:txBody>
          <a:bodyPr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of Space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properties like gap (newer CSS feature) to add consistent spacing between elements.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</a:t>
            </a:r>
          </a:p>
          <a:p>
            <a:pPr marL="342627" indent="-342627"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Centering a login form in the middle of a page.</a:t>
            </a:r>
          </a:p>
          <a:p>
            <a:pPr marL="342627" indent="-342627">
              <a:buFont typeface="+mj-lt"/>
              <a:buAutoNum type="arabicPeriod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Distributing items evenly in a gallery layout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Google Shape;98;g1dd0e243942_0_16">
            <a:extLst>
              <a:ext uri="{FF2B5EF4-FFF2-40B4-BE49-F238E27FC236}">
                <a16:creationId xmlns="" xmlns:a16="http://schemas.microsoft.com/office/drawing/2014/main" id="{0483C5F5-37E9-4A27-ACB6-B8A5E1525331}"/>
              </a:ext>
            </a:extLst>
          </p:cNvPr>
          <p:cNvSpPr txBox="1"/>
          <p:nvPr/>
        </p:nvSpPr>
        <p:spPr>
          <a:xfrm>
            <a:off x="5424347" y="3437134"/>
            <a:ext cx="2276449" cy="38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2" tIns="45663" rIns="91352" bIns="45663" anchor="t" anchorCtr="0">
            <a:spAutoFit/>
          </a:bodyPr>
          <a:lstStyle/>
          <a:p>
            <a:pPr>
              <a:lnSpc>
                <a:spcPct val="120000"/>
              </a:lnSpc>
              <a:buClr>
                <a:schemeClr val="dk1"/>
              </a:buClr>
              <a:buSzPts val="1100"/>
            </a:pP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ExtraBold"/>
              </a:rPr>
              <a:t>Custom Fonts and Icons: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F02DC20-187F-45D2-A7D9-8682643CFCD5}"/>
              </a:ext>
            </a:extLst>
          </p:cNvPr>
          <p:cNvSpPr/>
          <p:nvPr/>
        </p:nvSpPr>
        <p:spPr>
          <a:xfrm>
            <a:off x="5424347" y="3736475"/>
            <a:ext cx="3788543" cy="553917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add custom fonts and icons you can import the fonts and icons from CDN link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7F3261F-FC2A-4F47-AAC1-3B1D714D1C1A}"/>
              </a:ext>
            </a:extLst>
          </p:cNvPr>
          <p:cNvSpPr/>
          <p:nvPr/>
        </p:nvSpPr>
        <p:spPr>
          <a:xfrm>
            <a:off x="5824567" y="1461413"/>
            <a:ext cx="1999120" cy="553917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Dynamic Images: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https://i.pravatar.cc/300</a:t>
            </a:r>
          </a:p>
        </p:txBody>
      </p:sp>
    </p:spTree>
    <p:extLst>
      <p:ext uri="{BB962C8B-B14F-4D97-AF65-F5344CB8AC3E}">
        <p14:creationId xmlns:p14="http://schemas.microsoft.com/office/powerpoint/2010/main" val="54399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144611B-C10D-440E-BB04-19593D60D25C}"/>
              </a:ext>
            </a:extLst>
          </p:cNvPr>
          <p:cNvSpPr/>
          <p:nvPr/>
        </p:nvSpPr>
        <p:spPr>
          <a:xfrm>
            <a:off x="378626" y="1017480"/>
            <a:ext cx="6479381" cy="2939185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 Positioning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Position Property Values: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Static (Default):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Elements/tag follow the natural flow of the document.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Positioned relative to its normal position.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Absolute: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Positioned relative to the nearest positioned ancestor.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Positioned relative to the viewport, does not scroll.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Sticky: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Toggles between relative and fixed based on scroll position.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Z-Index: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Controls the stacking order of elements (higher values are on top).</a:t>
            </a:r>
          </a:p>
        </p:txBody>
      </p:sp>
    </p:spTree>
    <p:extLst>
      <p:ext uri="{BB962C8B-B14F-4D97-AF65-F5344CB8AC3E}">
        <p14:creationId xmlns:p14="http://schemas.microsoft.com/office/powerpoint/2010/main" val="42632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8B42E99-153C-4F68-9299-8E0D3F9C1CC7}"/>
              </a:ext>
            </a:extLst>
          </p:cNvPr>
          <p:cNvSpPr/>
          <p:nvPr/>
        </p:nvSpPr>
        <p:spPr>
          <a:xfrm>
            <a:off x="507211" y="638861"/>
            <a:ext cx="7036595" cy="4016403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.box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position: absolute;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top: 50px;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left: 100px;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}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.sticky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position: sticky;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top: 0;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background-color: yellow;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}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 a webpage with a fixed navbar and content sections demonstrating various positioning properties.</a:t>
            </a:r>
          </a:p>
        </p:txBody>
      </p:sp>
    </p:spTree>
    <p:extLst>
      <p:ext uri="{BB962C8B-B14F-4D97-AF65-F5344CB8AC3E}">
        <p14:creationId xmlns:p14="http://schemas.microsoft.com/office/powerpoint/2010/main" val="145325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99FA59B-2162-43F7-8CA5-5A3FEB8FD1C4}"/>
              </a:ext>
            </a:extLst>
          </p:cNvPr>
          <p:cNvSpPr/>
          <p:nvPr/>
        </p:nvSpPr>
        <p:spPr>
          <a:xfrm>
            <a:off x="357608" y="689077"/>
            <a:ext cx="3331216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it-IT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Personal Portfolio Webpage</a:t>
            </a:r>
            <a:endParaRPr lang="it-IT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6B4F2FA-8C69-4FE8-97EA-BDC8E729722A}"/>
              </a:ext>
            </a:extLst>
          </p:cNvPr>
          <p:cNvSpPr/>
          <p:nvPr/>
        </p:nvSpPr>
        <p:spPr>
          <a:xfrm>
            <a:off x="392493" y="996857"/>
            <a:ext cx="5522119" cy="3370073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Task 1 - Personal Portfolio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Content: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Build a simple portfolio webpage.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Requirements: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Header with name &amp; navigation.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Sections: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About, Projects, Contact.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background color, font styles, margins, and padding.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hover effects to links.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basic, styled personal portfolio page.</a:t>
            </a:r>
          </a:p>
        </p:txBody>
      </p:sp>
    </p:spTree>
    <p:extLst>
      <p:ext uri="{BB962C8B-B14F-4D97-AF65-F5344CB8AC3E}">
        <p14:creationId xmlns:p14="http://schemas.microsoft.com/office/powerpoint/2010/main" val="23103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3563CA-7332-4EFB-965B-ED77B0D21A10}"/>
              </a:ext>
            </a:extLst>
          </p:cNvPr>
          <p:cNvSpPr/>
          <p:nvPr/>
        </p:nvSpPr>
        <p:spPr>
          <a:xfrm>
            <a:off x="452465" y="781945"/>
            <a:ext cx="2686809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 Simple Product Card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F883AE1-A600-43ED-8C2F-191E3643F8C0}"/>
              </a:ext>
            </a:extLst>
          </p:cNvPr>
          <p:cNvSpPr/>
          <p:nvPr/>
        </p:nvSpPr>
        <p:spPr>
          <a:xfrm>
            <a:off x="528636" y="1276357"/>
            <a:ext cx="5543551" cy="3323987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Task 2 - Product Card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Content: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 a product display card.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Requirements: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product image, name, price, and a button.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Style with CSS: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Border and shadow for card.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Centered text.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 with hover effect.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Outcome: A clean, visually appealing product card.</a:t>
            </a:r>
          </a:p>
        </p:txBody>
      </p:sp>
    </p:spTree>
    <p:extLst>
      <p:ext uri="{BB962C8B-B14F-4D97-AF65-F5344CB8AC3E}">
        <p14:creationId xmlns:p14="http://schemas.microsoft.com/office/powerpoint/2010/main" val="395860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53982FD-9F69-4BC6-A047-57A24C8C440A}"/>
              </a:ext>
            </a:extLst>
          </p:cNvPr>
          <p:cNvSpPr/>
          <p:nvPr/>
        </p:nvSpPr>
        <p:spPr>
          <a:xfrm>
            <a:off x="404445" y="760513"/>
            <a:ext cx="2734899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 Frameworks and Libraries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E15C2A8-D204-4F83-9161-184A38C3F230}"/>
              </a:ext>
            </a:extLst>
          </p:cNvPr>
          <p:cNvSpPr/>
          <p:nvPr/>
        </p:nvSpPr>
        <p:spPr>
          <a:xfrm>
            <a:off x="404442" y="1196637"/>
            <a:ext cx="7046489" cy="2893100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CSS Frameworks?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Frameworks provide pre-written CSS rules and components to simplify development.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Popular Frameworks:</a:t>
            </a:r>
          </a:p>
          <a:p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Bootstrap: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Offers a grid system, responsive utilities, and UI components.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Tailwind CSS: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utility-first framework with pre-defined classes.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Speeds up development.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consistent designs.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Predefined components reduce the need for custom CSS.</a:t>
            </a:r>
          </a:p>
        </p:txBody>
      </p:sp>
    </p:spTree>
    <p:extLst>
      <p:ext uri="{BB962C8B-B14F-4D97-AF65-F5344CB8AC3E}">
        <p14:creationId xmlns:p14="http://schemas.microsoft.com/office/powerpoint/2010/main" val="357885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F5599B5-18E0-466B-9703-D9B2B8581098}"/>
              </a:ext>
            </a:extLst>
          </p:cNvPr>
          <p:cNvSpPr/>
          <p:nvPr/>
        </p:nvSpPr>
        <p:spPr>
          <a:xfrm>
            <a:off x="492919" y="707678"/>
            <a:ext cx="6672262" cy="1558578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CSS Best Practices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optimization - Use efficient selectors.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Maintainability - Use meaningful class names.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unnecessary overrides - Keep styles structured.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Minification &amp; Compression - Reduce file size for faster loading.</a:t>
            </a:r>
          </a:p>
        </p:txBody>
      </p:sp>
    </p:spTree>
    <p:extLst>
      <p:ext uri="{BB962C8B-B14F-4D97-AF65-F5344CB8AC3E}">
        <p14:creationId xmlns:p14="http://schemas.microsoft.com/office/powerpoint/2010/main" val="314553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633C8F9-0D8D-4377-9DD8-6BA3E5A06B7D}"/>
              </a:ext>
            </a:extLst>
          </p:cNvPr>
          <p:cNvSpPr/>
          <p:nvPr/>
        </p:nvSpPr>
        <p:spPr>
          <a:xfrm>
            <a:off x="742955" y="948871"/>
            <a:ext cx="5786438" cy="2416046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Project</a:t>
            </a:r>
          </a:p>
          <a:p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 a responsive webpage for a fictional product or service using HTML and CSS.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a header, navbar, main content, and footer.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external CSS and responsive design principles.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at least one CSS framework.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advanced positioning and include animations or hover effects.</a:t>
            </a:r>
          </a:p>
        </p:txBody>
      </p:sp>
    </p:spTree>
    <p:extLst>
      <p:ext uri="{BB962C8B-B14F-4D97-AF65-F5344CB8AC3E}">
        <p14:creationId xmlns:p14="http://schemas.microsoft.com/office/powerpoint/2010/main" val="81077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70046F0-B37D-447A-965E-4EB3368889A6}"/>
              </a:ext>
            </a:extLst>
          </p:cNvPr>
          <p:cNvSpPr/>
          <p:nvPr/>
        </p:nvSpPr>
        <p:spPr>
          <a:xfrm>
            <a:off x="407099" y="731758"/>
            <a:ext cx="1700961" cy="338473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Submission Notes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250BD60-088E-45F4-9E84-A5D87DC7E7CE}"/>
              </a:ext>
            </a:extLst>
          </p:cNvPr>
          <p:cNvSpPr/>
          <p:nvPr/>
        </p:nvSpPr>
        <p:spPr>
          <a:xfrm>
            <a:off x="485676" y="1065597"/>
            <a:ext cx="4886424" cy="784749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Evidence: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screenshots or record a short video for each task.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your evidence clearly shows the completed task.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70F3B4A-4629-4C18-ADAA-B2F699C82F52}"/>
              </a:ext>
            </a:extLst>
          </p:cNvPr>
          <p:cNvSpPr/>
          <p:nvPr/>
        </p:nvSpPr>
        <p:spPr>
          <a:xfrm>
            <a:off x="400749" y="1857419"/>
            <a:ext cx="5979417" cy="553917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Tasks: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each task as a separate folder or file in your GitHub repository.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28E690E-992D-4F7C-8396-B8B2EF2C760A}"/>
              </a:ext>
            </a:extLst>
          </p:cNvPr>
          <p:cNvSpPr/>
          <p:nvPr/>
        </p:nvSpPr>
        <p:spPr>
          <a:xfrm>
            <a:off x="400756" y="2571756"/>
            <a:ext cx="7143051" cy="1246414"/>
          </a:xfrm>
          <a:prstGeom prst="rect">
            <a:avLst/>
          </a:prstGeom>
        </p:spPr>
        <p:txBody>
          <a:bodyPr wrap="square" lIns="91368" tIns="45680" rIns="91368" bIns="45680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Post: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short post summarizing what you learned and how you completed the tasks.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 your key takeaways.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Mention the following account in your post:</a:t>
            </a:r>
          </a:p>
          <a:p>
            <a:pPr marL="285522" indent="-285522">
              <a:buFont typeface="Arial" panose="020B0604020202020204" pitchFamily="34" charset="0"/>
              <a:buChar char="•"/>
            </a:pPr>
            <a:r>
              <a:rPr lang="en-GB" sz="1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Shahzad</a:t>
            </a:r>
            <a:r>
              <a:rPr lang="en-GB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khan</a:t>
            </a: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20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2EC73A5-44C7-46E8-AB3B-57119B14DE17}"/>
              </a:ext>
            </a:extLst>
          </p:cNvPr>
          <p:cNvSpPr/>
          <p:nvPr/>
        </p:nvSpPr>
        <p:spPr>
          <a:xfrm>
            <a:off x="1794641" y="1786924"/>
            <a:ext cx="5554580" cy="1569580"/>
          </a:xfrm>
          <a:prstGeom prst="rect">
            <a:avLst/>
          </a:prstGeom>
        </p:spPr>
        <p:txBody>
          <a:bodyPr wrap="none" lIns="91368" tIns="45680" rIns="91368" bIns="45680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1158</TotalTime>
  <Words>1695</Words>
  <Application>Microsoft Office PowerPoint</Application>
  <PresentationFormat>On-screen Show (16:9)</PresentationFormat>
  <Paragraphs>367</Paragraphs>
  <Slides>32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Concourse</vt:lpstr>
      <vt:lpstr>Introduction of CSS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shahzad</cp:lastModifiedBy>
  <cp:revision>65</cp:revision>
  <dcterms:modified xsi:type="dcterms:W3CDTF">2025-09-09T03:28:19Z</dcterms:modified>
</cp:coreProperties>
</file>