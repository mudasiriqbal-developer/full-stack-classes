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2" r:id="rId1"/>
  </p:sldMasterIdLst>
  <p:notesMasterIdLst>
    <p:notesMasterId r:id="rId24"/>
  </p:notesMasterIdLst>
  <p:sldIdLst>
    <p:sldId id="256" r:id="rId2"/>
    <p:sldId id="257" r:id="rId3"/>
    <p:sldId id="259" r:id="rId4"/>
    <p:sldId id="282" r:id="rId5"/>
    <p:sldId id="279" r:id="rId6"/>
    <p:sldId id="280" r:id="rId7"/>
    <p:sldId id="283" r:id="rId8"/>
    <p:sldId id="263" r:id="rId9"/>
    <p:sldId id="261" r:id="rId10"/>
    <p:sldId id="264" r:id="rId11"/>
    <p:sldId id="266" r:id="rId12"/>
    <p:sldId id="267" r:id="rId13"/>
    <p:sldId id="265" r:id="rId14"/>
    <p:sldId id="268" r:id="rId15"/>
    <p:sldId id="270" r:id="rId16"/>
    <p:sldId id="272" r:id="rId17"/>
    <p:sldId id="281" r:id="rId18"/>
    <p:sldId id="273" r:id="rId19"/>
    <p:sldId id="274" r:id="rId20"/>
    <p:sldId id="276" r:id="rId21"/>
    <p:sldId id="284" r:id="rId22"/>
    <p:sldId id="278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660"/>
  </p:normalViewPr>
  <p:slideViewPr>
    <p:cSldViewPr snapToGrid="0">
      <p:cViewPr varScale="1">
        <p:scale>
          <a:sx n="93" d="100"/>
          <a:sy n="93" d="100"/>
        </p:scale>
        <p:origin x="-1020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5013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1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235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467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522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116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149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012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423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294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24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792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012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83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36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6045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20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914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013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A93A5A3-C0B0-40D3-9611-34AEF3613F0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894" y="1565223"/>
            <a:ext cx="8520600" cy="841800"/>
          </a:xfrm>
        </p:spPr>
        <p:txBody>
          <a:bodyPr>
            <a:normAutofit/>
          </a:bodyPr>
          <a:lstStyle/>
          <a:p>
            <a:r>
              <a:rPr lang="en-GB" dirty="0" smtClean="0"/>
              <a:t>General 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B0E0E09-73B3-494B-9B4A-C98A4885845E}"/>
              </a:ext>
            </a:extLst>
          </p:cNvPr>
          <p:cNvSpPr/>
          <p:nvPr/>
        </p:nvSpPr>
        <p:spPr>
          <a:xfrm>
            <a:off x="398618" y="648587"/>
            <a:ext cx="35557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Website Development?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3F491A3-B5FD-4EA7-A597-E1F727F2CAF9}"/>
              </a:ext>
            </a:extLst>
          </p:cNvPr>
          <p:cNvSpPr/>
          <p:nvPr/>
        </p:nvSpPr>
        <p:spPr>
          <a:xfrm>
            <a:off x="473962" y="1048697"/>
            <a:ext cx="6626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process of creating and maintaining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Encompasses web design, coding, deployment, and optimization.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91329B3-D3DB-44DC-B7B6-3B010FE1CB94}"/>
              </a:ext>
            </a:extLst>
          </p:cNvPr>
          <p:cNvSpPr/>
          <p:nvPr/>
        </p:nvSpPr>
        <p:spPr>
          <a:xfrm>
            <a:off x="398618" y="1972379"/>
            <a:ext cx="351939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Websites: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Static: Fixed content, no user interaction(e.g., a simple resume website).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Dynamic: Interactive, data-driven(e.g., Facebook, Twitter).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49252D-D63F-43CF-89AE-11B5CC8FA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1" y="1941523"/>
            <a:ext cx="5372100" cy="2780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F6DD166-EEBC-4EE1-AFF7-E446F801A753}"/>
              </a:ext>
            </a:extLst>
          </p:cNvPr>
          <p:cNvSpPr/>
          <p:nvPr/>
        </p:nvSpPr>
        <p:spPr>
          <a:xfrm>
            <a:off x="435769" y="670828"/>
            <a:ext cx="76438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vs Dynamic Websites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Websites: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Fixed content (HTML &amp; CSS only), no user interaction. Example: Personal blogs, documentation pages.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Websites: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Content changes based on user input. Example: Facebook, Amazon.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one to </a:t>
            </a: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choose?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Static = Simplicity, Dynamic = Interactive experience.</a:t>
            </a:r>
          </a:p>
        </p:txBody>
      </p:sp>
    </p:spTree>
    <p:extLst>
      <p:ext uri="{BB962C8B-B14F-4D97-AF65-F5344CB8AC3E}">
        <p14:creationId xmlns:p14="http://schemas.microsoft.com/office/powerpoint/2010/main" val="230848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C5D4A54-CB49-46A0-A9B4-D24205ABF517}"/>
              </a:ext>
            </a:extLst>
          </p:cNvPr>
          <p:cNvSpPr/>
          <p:nvPr/>
        </p:nvSpPr>
        <p:spPr>
          <a:xfrm>
            <a:off x="384611" y="774799"/>
            <a:ext cx="4027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Front-End, Back-End, and Databases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7FF4F1E-ECC5-469D-ACA4-FBDFB657F00F}"/>
              </a:ext>
            </a:extLst>
          </p:cNvPr>
          <p:cNvSpPr/>
          <p:nvPr/>
        </p:nvSpPr>
        <p:spPr>
          <a:xfrm>
            <a:off x="506055" y="1174909"/>
            <a:ext cx="483032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(UI) of the website visible to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Technologies: HTML, CSS,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The homepage design and buttons.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46E6A2B-3C24-4642-9C64-F59F9FDF7BF0}"/>
              </a:ext>
            </a:extLst>
          </p:cNvPr>
          <p:cNvSpPr/>
          <p:nvPr/>
        </p:nvSpPr>
        <p:spPr>
          <a:xfrm>
            <a:off x="506055" y="2282905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Back-End: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Server-side operations managing data and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Technologies: Node.js, Python, PHP.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Fetching and storing user login details.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2E3C60F-B203-4B31-AD3E-96C4D3759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37089"/>
            <a:ext cx="4572000" cy="28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03207B7-0985-4CE5-94DB-C2D1CB09C2DE}"/>
              </a:ext>
            </a:extLst>
          </p:cNvPr>
          <p:cNvSpPr/>
          <p:nvPr/>
        </p:nvSpPr>
        <p:spPr>
          <a:xfrm>
            <a:off x="420331" y="830105"/>
            <a:ext cx="6651983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for website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Types: Relational (MySQL) and NoSQL (MongoDB).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Relational: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Organize data into structured tables with rows and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 Relational: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 data in flexible formats like JSON, documents, or key-value pairs.</a:t>
            </a:r>
          </a:p>
        </p:txBody>
      </p:sp>
    </p:spTree>
    <p:extLst>
      <p:ext uri="{BB962C8B-B14F-4D97-AF65-F5344CB8AC3E}">
        <p14:creationId xmlns:p14="http://schemas.microsoft.com/office/powerpoint/2010/main" val="328737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576A7F-C70B-4009-A08C-2ACB9EA9AF05}"/>
              </a:ext>
            </a:extLst>
          </p:cNvPr>
          <p:cNvSpPr/>
          <p:nvPr/>
        </p:nvSpPr>
        <p:spPr>
          <a:xfrm>
            <a:off x="426819" y="653357"/>
            <a:ext cx="793851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Web Works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web follows a Client-Server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browser that sends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machine that processes requests and sends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Request Lifecycle: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Request → Process →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Typing </a:t>
            </a: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google.com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Browser sends request → Google’s server processes → Sends back a webpage.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34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CD5555E-10D3-4A0A-A9D5-2A6ACFB2E446}"/>
              </a:ext>
            </a:extLst>
          </p:cNvPr>
          <p:cNvSpPr/>
          <p:nvPr/>
        </p:nvSpPr>
        <p:spPr>
          <a:xfrm>
            <a:off x="428624" y="627400"/>
            <a:ext cx="75795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Happens When You Type a URL in a Browser?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DNS Lookup → Resolves domain (e.g., google.com) to an IP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Sends HTTP Request → Asks the server for webpage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Processes the Request → Fetches necessary files (HTML, CSS, 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is Sent Back → Browser renders the page.</a:t>
            </a:r>
          </a:p>
        </p:txBody>
      </p:sp>
    </p:spTree>
    <p:extLst>
      <p:ext uri="{BB962C8B-B14F-4D97-AF65-F5344CB8AC3E}">
        <p14:creationId xmlns:p14="http://schemas.microsoft.com/office/powerpoint/2010/main" val="394376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7CF64DB-8812-469E-9013-731D620C29D0}"/>
              </a:ext>
            </a:extLst>
          </p:cNvPr>
          <p:cNvSpPr/>
          <p:nvPr/>
        </p:nvSpPr>
        <p:spPr>
          <a:xfrm>
            <a:off x="404132" y="575415"/>
            <a:ext cx="31822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vs Web 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2418742-A895-4C9D-B62C-03AE2602A48E}"/>
              </a:ext>
            </a:extLst>
          </p:cNvPr>
          <p:cNvSpPr/>
          <p:nvPr/>
        </p:nvSpPr>
        <p:spPr>
          <a:xfrm>
            <a:off x="481179" y="989382"/>
            <a:ext cx="3905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Informational, mostly static or semi-dynamic.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News portals, blogs.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7FBF139-D548-4A1A-8068-41464E46C4DF}"/>
              </a:ext>
            </a:extLst>
          </p:cNvPr>
          <p:cNvSpPr/>
          <p:nvPr/>
        </p:nvSpPr>
        <p:spPr>
          <a:xfrm>
            <a:off x="4572000" y="989382"/>
            <a:ext cx="4276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Interactive, dynamic, and functionality-driven.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Gmail, Google Docs.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CD5D293-0B95-4DA3-907A-A72650917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91" y="1850232"/>
            <a:ext cx="8553221" cy="282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47E2D77-AA68-47E2-82F9-211F70EA86E1}"/>
              </a:ext>
            </a:extLst>
          </p:cNvPr>
          <p:cNvSpPr/>
          <p:nvPr/>
        </p:nvSpPr>
        <p:spPr>
          <a:xfrm>
            <a:off x="363151" y="615315"/>
            <a:ext cx="2172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Hosting vs 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52DBF97-3380-496E-AAA5-375B669D03CC}"/>
              </a:ext>
            </a:extLst>
          </p:cNvPr>
          <p:cNvSpPr/>
          <p:nvPr/>
        </p:nvSpPr>
        <p:spPr>
          <a:xfrm>
            <a:off x="434589" y="1015426"/>
            <a:ext cx="392906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service that stores website files on a server, making them accessible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Providers: AWS, Bluehost,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Hostinger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72F64FD-93D5-47E3-A36E-4B8D3F774E42}"/>
              </a:ext>
            </a:extLst>
          </p:cNvPr>
          <p:cNvSpPr/>
          <p:nvPr/>
        </p:nvSpPr>
        <p:spPr>
          <a:xfrm>
            <a:off x="4363651" y="1015426"/>
            <a:ext cx="43457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unique address for a website (e.g., www.example.com).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Purchased from registrars like GoDaddy or Namecheap.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D87BFFF-9FCF-43B8-8489-F28733D12EC2}"/>
              </a:ext>
            </a:extLst>
          </p:cNvPr>
          <p:cNvSpPr/>
          <p:nvPr/>
        </p:nvSpPr>
        <p:spPr>
          <a:xfrm>
            <a:off x="434589" y="2338864"/>
            <a:ext cx="3500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 accessing a website by typing its domain in a browser.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ACAA3C1-328A-49CB-B2E2-33240A10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280" y="2471739"/>
            <a:ext cx="5999123" cy="247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3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CD931A5-12B5-46C0-9685-6EAFE142DA2B}"/>
              </a:ext>
            </a:extLst>
          </p:cNvPr>
          <p:cNvSpPr/>
          <p:nvPr/>
        </p:nvSpPr>
        <p:spPr>
          <a:xfrm>
            <a:off x="390162" y="608142"/>
            <a:ext cx="1749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vs HTTPS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C68E803-22F4-458A-9780-3DAF67E1D162}"/>
              </a:ext>
            </a:extLst>
          </p:cNvPr>
          <p:cNvSpPr/>
          <p:nvPr/>
        </p:nvSpPr>
        <p:spPr>
          <a:xfrm>
            <a:off x="464284" y="1087994"/>
            <a:ext cx="43148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Hypertext Transfer Protocol.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encryption; data is sent as plain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foundation of data communication on the web.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7FEFD13-6FD0-4042-9557-E794BF48681B}"/>
              </a:ext>
            </a:extLst>
          </p:cNvPr>
          <p:cNvSpPr/>
          <p:nvPr/>
        </p:nvSpPr>
        <p:spPr>
          <a:xfrm>
            <a:off x="464282" y="2411432"/>
            <a:ext cx="45934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with Secure Socket Layer (SSL).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Encrypts data for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sensitive information like passwords and payment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 with HTTPS show a padlock icon in the browser's address bar.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B16460-1B5E-49D8-8A37-57CEEC988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79" y="51348"/>
            <a:ext cx="4194891" cy="50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64C9626-C9FB-451E-B20F-8102C6282042}"/>
              </a:ext>
            </a:extLst>
          </p:cNvPr>
          <p:cNvSpPr/>
          <p:nvPr/>
        </p:nvSpPr>
        <p:spPr>
          <a:xfrm>
            <a:off x="395590" y="634987"/>
            <a:ext cx="3409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Control Systems (VCS)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164E2A7-5BFD-4A6B-BA66-1C753C01DDFA}"/>
              </a:ext>
            </a:extLst>
          </p:cNvPr>
          <p:cNvSpPr/>
          <p:nvPr/>
        </p:nvSpPr>
        <p:spPr>
          <a:xfrm>
            <a:off x="422806" y="3517311"/>
            <a:ext cx="61851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Version Control?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system that helps track changes to files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collaboration without overwriting each other's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76AC1C5-881D-4146-8325-65EAA8E84CDB}"/>
              </a:ext>
            </a:extLst>
          </p:cNvPr>
          <p:cNvSpPr/>
          <p:nvPr/>
        </p:nvSpPr>
        <p:spPr>
          <a:xfrm>
            <a:off x="460519" y="1929187"/>
            <a:ext cx="537592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 of Version Control: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Keeps track of code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reverting to previous versions if mistakes are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Facilitates teamwork with minimal conflicts.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2328380-0663-4979-8368-A00C2659800E}"/>
              </a:ext>
            </a:extLst>
          </p:cNvPr>
          <p:cNvSpPr/>
          <p:nvPr/>
        </p:nvSpPr>
        <p:spPr>
          <a:xfrm>
            <a:off x="395590" y="3178756"/>
            <a:ext cx="15905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vs GitHub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304811-C919-4167-A5DC-8EBB42C23FF3}"/>
              </a:ext>
            </a:extLst>
          </p:cNvPr>
          <p:cNvSpPr/>
          <p:nvPr/>
        </p:nvSpPr>
        <p:spPr>
          <a:xfrm>
            <a:off x="460517" y="1098191"/>
            <a:ext cx="74690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free, distributed version control system designed for speed and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track changes in code and manage versions.</a:t>
            </a:r>
          </a:p>
        </p:txBody>
      </p:sp>
    </p:spTree>
    <p:extLst>
      <p:ext uri="{BB962C8B-B14F-4D97-AF65-F5344CB8AC3E}">
        <p14:creationId xmlns:p14="http://schemas.microsoft.com/office/powerpoint/2010/main" val="290091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DB073CB-5413-4FC2-8CD5-9564C7447AD4}"/>
              </a:ext>
            </a:extLst>
          </p:cNvPr>
          <p:cNvSpPr/>
          <p:nvPr/>
        </p:nvSpPr>
        <p:spPr>
          <a:xfrm>
            <a:off x="427322" y="626072"/>
            <a:ext cx="72093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GitHub?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platform for hosting Git repositories(folders)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collaboration through features like pull requests, issue tracking, and code reviews.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CDADECC-26D8-46C7-8E3F-8A0D12B6D623}"/>
              </a:ext>
            </a:extLst>
          </p:cNvPr>
          <p:cNvSpPr/>
          <p:nvPr/>
        </p:nvSpPr>
        <p:spPr>
          <a:xfrm>
            <a:off x="427320" y="1826400"/>
            <a:ext cx="1741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Differences: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A64A2DE4-CF95-4DAC-9ECF-BE2AA7F6C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196227"/>
              </p:ext>
            </p:extLst>
          </p:nvPr>
        </p:nvGraphicFramePr>
        <p:xfrm>
          <a:off x="1350171" y="2202876"/>
          <a:ext cx="6443661" cy="2286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28725">
                  <a:extLst>
                    <a:ext uri="{9D8B030D-6E8A-4147-A177-3AD203B41FA5}">
                      <a16:colId xmlns:a16="http://schemas.microsoft.com/office/drawing/2014/main" xmlns="" val="2808460670"/>
                    </a:ext>
                  </a:extLst>
                </a:gridCol>
                <a:gridCol w="2414587">
                  <a:extLst>
                    <a:ext uri="{9D8B030D-6E8A-4147-A177-3AD203B41FA5}">
                      <a16:colId xmlns:a16="http://schemas.microsoft.com/office/drawing/2014/main" xmlns="" val="3504277380"/>
                    </a:ext>
                  </a:extLst>
                </a:gridCol>
                <a:gridCol w="2800349">
                  <a:extLst>
                    <a:ext uri="{9D8B030D-6E8A-4147-A177-3AD203B41FA5}">
                      <a16:colId xmlns:a16="http://schemas.microsoft.com/office/drawing/2014/main" xmlns="" val="107463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747195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VCS to manage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Platform for hosting Git repos.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016871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Installed locally.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Accessible via a web browser.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849239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 control.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Collaboration and sharing.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5661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70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2A4C17-2FFC-43D0-9E62-900DA9203D5B}"/>
              </a:ext>
            </a:extLst>
          </p:cNvPr>
          <p:cNvSpPr/>
          <p:nvPr/>
        </p:nvSpPr>
        <p:spPr>
          <a:xfrm>
            <a:off x="393747" y="633027"/>
            <a:ext cx="2427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Editors and IDEs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928BC76-A06A-46E6-859A-D56BD03B4217}"/>
              </a:ext>
            </a:extLst>
          </p:cNvPr>
          <p:cNvSpPr/>
          <p:nvPr/>
        </p:nvSpPr>
        <p:spPr>
          <a:xfrm>
            <a:off x="472329" y="1033137"/>
            <a:ext cx="44139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Editors: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tools for 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Notepad++, Sublime Text.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D5758B4-BFF0-4275-BDC0-87ADE229DD6D}"/>
              </a:ext>
            </a:extLst>
          </p:cNvPr>
          <p:cNvSpPr/>
          <p:nvPr/>
        </p:nvSpPr>
        <p:spPr>
          <a:xfrm>
            <a:off x="472329" y="1962387"/>
            <a:ext cx="49283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tools with debugging, version control, and auto-completion.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VS Code, IntelliJ IDEA.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1F70FA8-D594-46A1-9BBF-3482AE3B3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386" y="1485901"/>
            <a:ext cx="5042405" cy="343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9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8A7BE7C-FEEC-493B-B8E7-2254912DE2FC}"/>
              </a:ext>
            </a:extLst>
          </p:cNvPr>
          <p:cNvSpPr/>
          <p:nvPr/>
        </p:nvSpPr>
        <p:spPr>
          <a:xfrm>
            <a:off x="439915" y="560962"/>
            <a:ext cx="17764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Basics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B8219AC-30A5-4ABC-A23C-5EEAD8B5F5FB}"/>
              </a:ext>
            </a:extLst>
          </p:cNvPr>
          <p:cNvSpPr/>
          <p:nvPr/>
        </p:nvSpPr>
        <p:spPr>
          <a:xfrm>
            <a:off x="547070" y="2269123"/>
            <a:ext cx="5996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Browser?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software application for accessing the World Wide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Chrome, Firefox, Edge, Safari.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8396BB0-A540-4B24-A0F0-7E9ED6F125EA}"/>
              </a:ext>
            </a:extLst>
          </p:cNvPr>
          <p:cNvSpPr/>
          <p:nvPr/>
        </p:nvSpPr>
        <p:spPr>
          <a:xfrm>
            <a:off x="547072" y="945685"/>
            <a:ext cx="72681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Functions of a Browser: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Rendering HTML and CSS: Displays web pages based on their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Execution: Runs scripts to make web pages interactive.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Networking: Manages HTTP/HTTPS requests to fetch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Storage: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LocalStorage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SessionStorage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Cookies for data storage.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256553D-395E-4A46-BB3B-D5B861CEA4B8}"/>
              </a:ext>
            </a:extLst>
          </p:cNvPr>
          <p:cNvSpPr/>
          <p:nvPr/>
        </p:nvSpPr>
        <p:spPr>
          <a:xfrm>
            <a:off x="439916" y="3084731"/>
            <a:ext cx="56108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within browsers to inspect and debug web pages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91FA698-10DE-4F35-B332-10C0FFCC2337}"/>
              </a:ext>
            </a:extLst>
          </p:cNvPr>
          <p:cNvSpPr/>
          <p:nvPr/>
        </p:nvSpPr>
        <p:spPr>
          <a:xfrm>
            <a:off x="439917" y="3638728"/>
            <a:ext cx="55006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Tabs in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DevTools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Elements: Inspect and modify HTML/CSS.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Console: Debug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Network: Monitor API calls and page load times.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DDBF0FD-81B6-4CBB-A9E0-FA73AE501FC1}"/>
              </a:ext>
            </a:extLst>
          </p:cNvPr>
          <p:cNvSpPr/>
          <p:nvPr/>
        </p:nvSpPr>
        <p:spPr>
          <a:xfrm>
            <a:off x="5290523" y="3638729"/>
            <a:ext cx="3339129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Task: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DevTools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browser and explore the Elements, Console, and Network tabs.</a:t>
            </a:r>
          </a:p>
        </p:txBody>
      </p:sp>
    </p:spTree>
    <p:extLst>
      <p:ext uri="{BB962C8B-B14F-4D97-AF65-F5344CB8AC3E}">
        <p14:creationId xmlns:p14="http://schemas.microsoft.com/office/powerpoint/2010/main" val="261557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A0519C3-109B-462A-B399-B2624772B9D2}"/>
              </a:ext>
            </a:extLst>
          </p:cNvPr>
          <p:cNvSpPr/>
          <p:nvPr/>
        </p:nvSpPr>
        <p:spPr>
          <a:xfrm>
            <a:off x="402495" y="513740"/>
            <a:ext cx="2935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 and Libraries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A586D60-7D6E-47A3-B56F-542A0DF71D1C}"/>
              </a:ext>
            </a:extLst>
          </p:cNvPr>
          <p:cNvSpPr/>
          <p:nvPr/>
        </p:nvSpPr>
        <p:spPr>
          <a:xfrm>
            <a:off x="523939" y="913851"/>
            <a:ext cx="6855557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Frameworks?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Predefined structures for building web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Enforce rules, making development faster and more organized.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5A9879-A1C3-4628-853A-96D5DB085FC2}"/>
              </a:ext>
            </a:extLst>
          </p:cNvPr>
          <p:cNvSpPr/>
          <p:nvPr/>
        </p:nvSpPr>
        <p:spPr>
          <a:xfrm>
            <a:off x="523939" y="1788960"/>
            <a:ext cx="5248215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Frameworks: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Front-End: Angular, Vue.js.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Back-End: Express.js, Django, Ruby on Rails.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8F2E76-6094-4285-B648-3BBA8DE86112}"/>
              </a:ext>
            </a:extLst>
          </p:cNvPr>
          <p:cNvSpPr/>
          <p:nvPr/>
        </p:nvSpPr>
        <p:spPr>
          <a:xfrm>
            <a:off x="523937" y="2664069"/>
            <a:ext cx="4572000" cy="8771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Libraries?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Collections of reusable code for specific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flexibility but do not dictate 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7EDEC96-9B43-490B-AF19-A04D012681AA}"/>
              </a:ext>
            </a:extLst>
          </p:cNvPr>
          <p:cNvSpPr/>
          <p:nvPr/>
        </p:nvSpPr>
        <p:spPr>
          <a:xfrm>
            <a:off x="523939" y="3539178"/>
            <a:ext cx="63718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React: For Single Page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jQuery: Simplifies DOM manipulation.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Lodash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Provides utility functions for JavaScript.</a:t>
            </a:r>
          </a:p>
        </p:txBody>
      </p:sp>
    </p:spTree>
    <p:extLst>
      <p:ext uri="{BB962C8B-B14F-4D97-AF65-F5344CB8AC3E}">
        <p14:creationId xmlns:p14="http://schemas.microsoft.com/office/powerpoint/2010/main" val="83469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B87B8FD-9B55-4B7E-A53A-6D0BBF049841}"/>
              </a:ext>
            </a:extLst>
          </p:cNvPr>
          <p:cNvSpPr/>
          <p:nvPr/>
        </p:nvSpPr>
        <p:spPr>
          <a:xfrm>
            <a:off x="514350" y="642819"/>
            <a:ext cx="662225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APIs &amp; Why They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= Application Programming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allows two applications to communicate.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Weather apps fetching live data from an external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Example: Login with Google/Facebook (OAuth API).</a:t>
            </a:r>
          </a:p>
        </p:txBody>
      </p:sp>
    </p:spTree>
    <p:extLst>
      <p:ext uri="{BB962C8B-B14F-4D97-AF65-F5344CB8AC3E}">
        <p14:creationId xmlns:p14="http://schemas.microsoft.com/office/powerpoint/2010/main" val="23478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89BF00D-D114-42F8-9156-7FC81AEF4BCC}"/>
              </a:ext>
            </a:extLst>
          </p:cNvPr>
          <p:cNvSpPr/>
          <p:nvPr/>
        </p:nvSpPr>
        <p:spPr>
          <a:xfrm>
            <a:off x="389077" y="72922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Activities for Students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27F96FF-55D0-4E3F-87E0-68EA3DDE3ED4}"/>
              </a:ext>
            </a:extLst>
          </p:cNvPr>
          <p:cNvSpPr/>
          <p:nvPr/>
        </p:nvSpPr>
        <p:spPr>
          <a:xfrm>
            <a:off x="452419" y="1067779"/>
            <a:ext cx="5088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1: Website vs Web Application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9B4295B-13B1-47D7-98C4-83A46FED811C}"/>
              </a:ext>
            </a:extLst>
          </p:cNvPr>
          <p:cNvSpPr/>
          <p:nvPr/>
        </p:nvSpPr>
        <p:spPr>
          <a:xfrm>
            <a:off x="452421" y="1390944"/>
            <a:ext cx="76771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difference between a website and a web application through real-world examples.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F80762A-7841-4508-900A-83C1997C08DF}"/>
              </a:ext>
            </a:extLst>
          </p:cNvPr>
          <p:cNvSpPr/>
          <p:nvPr/>
        </p:nvSpPr>
        <p:spPr>
          <a:xfrm>
            <a:off x="452419" y="2452773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4E6506B-7198-47B3-B79E-099DFA52C7BC}"/>
              </a:ext>
            </a:extLst>
          </p:cNvPr>
          <p:cNvSpPr/>
          <p:nvPr/>
        </p:nvSpPr>
        <p:spPr>
          <a:xfrm>
            <a:off x="452421" y="2764632"/>
            <a:ext cx="61769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your browser and visit the following 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Website: www.wikipedia.org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Application: www.gmail.com</a:t>
            </a:r>
          </a:p>
        </p:txBody>
      </p:sp>
    </p:spTree>
    <p:extLst>
      <p:ext uri="{BB962C8B-B14F-4D97-AF65-F5344CB8AC3E}">
        <p14:creationId xmlns:p14="http://schemas.microsoft.com/office/powerpoint/2010/main" val="229554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4260B3E-1F03-4C99-85D5-4F279519F38B}"/>
              </a:ext>
            </a:extLst>
          </p:cNvPr>
          <p:cNvSpPr/>
          <p:nvPr/>
        </p:nvSpPr>
        <p:spPr>
          <a:xfrm>
            <a:off x="400050" y="821413"/>
            <a:ext cx="72651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Features: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 and note the following for each: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What is the website or app designed to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Interactivity: Can you interact with the site (e.g., logging in, performing actions)?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Content: Does the content change based on user actions?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D572A1-3680-4386-8504-32D5F14099D9}"/>
              </a:ext>
            </a:extLst>
          </p:cNvPr>
          <p:cNvSpPr/>
          <p:nvPr/>
        </p:nvSpPr>
        <p:spPr>
          <a:xfrm>
            <a:off x="400050" y="2298741"/>
            <a:ext cx="6853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short paragraph explaining the differences between the two.</a:t>
            </a:r>
          </a:p>
        </p:txBody>
      </p:sp>
    </p:spTree>
    <p:extLst>
      <p:ext uri="{BB962C8B-B14F-4D97-AF65-F5344CB8AC3E}">
        <p14:creationId xmlns:p14="http://schemas.microsoft.com/office/powerpoint/2010/main" val="223571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83F5A4C-C80F-40F4-9779-6EB0FE1B6F37}"/>
              </a:ext>
            </a:extLst>
          </p:cNvPr>
          <p:cNvSpPr/>
          <p:nvPr/>
        </p:nvSpPr>
        <p:spPr>
          <a:xfrm>
            <a:off x="372308" y="727441"/>
            <a:ext cx="3847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2: Domain and Hosting Exploration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2CD7FCF-03B1-44EF-A573-D2A759793012}"/>
              </a:ext>
            </a:extLst>
          </p:cNvPr>
          <p:cNvSpPr/>
          <p:nvPr/>
        </p:nvSpPr>
        <p:spPr>
          <a:xfrm>
            <a:off x="411598" y="1065995"/>
            <a:ext cx="611421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how domains and hosting work by exploring real-world examples.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BC70501-770D-4CFC-B009-7DD2C3F61383}"/>
              </a:ext>
            </a:extLst>
          </p:cNvPr>
          <p:cNvSpPr/>
          <p:nvPr/>
        </p:nvSpPr>
        <p:spPr>
          <a:xfrm>
            <a:off x="411598" y="1619995"/>
            <a:ext cx="565344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 Domain Name: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domain registrar like GoDaddy or Namecheap to search for a domain name (e.g., yourname.com).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its availability and note the cost.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78F399A-DF97-44D0-8751-7D3DB6A0B94A}"/>
              </a:ext>
            </a:extLst>
          </p:cNvPr>
          <p:cNvSpPr/>
          <p:nvPr/>
        </p:nvSpPr>
        <p:spPr>
          <a:xfrm>
            <a:off x="372308" y="2866488"/>
            <a:ext cx="780014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Hosting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 a hosting provider like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Hostinger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Bluehost.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features offered in their hosting plans (e.g., storage, bandwidth, email accounts).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DF8743A-E1BD-4C22-8C81-49694414D3FA}"/>
              </a:ext>
            </a:extLst>
          </p:cNvPr>
          <p:cNvSpPr/>
          <p:nvPr/>
        </p:nvSpPr>
        <p:spPr>
          <a:xfrm>
            <a:off x="372308" y="3651318"/>
            <a:ext cx="710719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role of a domain name and hosting in making a website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one example of a domain name and one hosting plan you explored.</a:t>
            </a:r>
          </a:p>
        </p:txBody>
      </p:sp>
    </p:spTree>
    <p:extLst>
      <p:ext uri="{BB962C8B-B14F-4D97-AF65-F5344CB8AC3E}">
        <p14:creationId xmlns:p14="http://schemas.microsoft.com/office/powerpoint/2010/main" val="306026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D644FBF-2FDA-4A33-9F30-A5457AC80744}"/>
              </a:ext>
            </a:extLst>
          </p:cNvPr>
          <p:cNvSpPr/>
          <p:nvPr/>
        </p:nvSpPr>
        <p:spPr>
          <a:xfrm>
            <a:off x="414339" y="661423"/>
            <a:ext cx="83153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Tasks (Assignments)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Task: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and list 5 static websites and 5 dynamic websites with reasons.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Task: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a GitHub repository and push a simple "Hello World" HTML file.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Task: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DevTools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browser and inspect network requests of any website.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short note on what type of files are loaded (HTML, CSS, JS, images, etc.).</a:t>
            </a: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0046F0-B37D-447A-965E-4EB3368889A6}"/>
              </a:ext>
            </a:extLst>
          </p:cNvPr>
          <p:cNvSpPr/>
          <p:nvPr/>
        </p:nvSpPr>
        <p:spPr>
          <a:xfrm>
            <a:off x="407098" y="731757"/>
            <a:ext cx="17011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250BD60-088E-45F4-9E84-A5D87DC7E7CE}"/>
              </a:ext>
            </a:extLst>
          </p:cNvPr>
          <p:cNvSpPr/>
          <p:nvPr/>
        </p:nvSpPr>
        <p:spPr>
          <a:xfrm>
            <a:off x="485676" y="1065595"/>
            <a:ext cx="48864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70F3B4A-4629-4C18-ADAA-B2F699C82F52}"/>
              </a:ext>
            </a:extLst>
          </p:cNvPr>
          <p:cNvSpPr/>
          <p:nvPr/>
        </p:nvSpPr>
        <p:spPr>
          <a:xfrm>
            <a:off x="400751" y="1857418"/>
            <a:ext cx="59794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28E690E-992D-4F7C-8396-B8B2EF2C760A}"/>
              </a:ext>
            </a:extLst>
          </p:cNvPr>
          <p:cNvSpPr/>
          <p:nvPr/>
        </p:nvSpPr>
        <p:spPr>
          <a:xfrm>
            <a:off x="400750" y="2571750"/>
            <a:ext cx="69283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Shahzad</a:t>
            </a:r>
            <a:r>
              <a:rPr lang="en-GB" sz="15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 + </a:t>
            </a:r>
            <a:r>
              <a:rPr lang="en-GB" sz="15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Encoderbytes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5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584</TotalTime>
  <Words>1345</Words>
  <Application>Microsoft Office PowerPoint</Application>
  <PresentationFormat>On-screen Show (16:9)</PresentationFormat>
  <Paragraphs>192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Concourse</vt:lpstr>
      <vt:lpstr>General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MUNIM</dc:creator>
  <cp:lastModifiedBy>shahzad</cp:lastModifiedBy>
  <cp:revision>48</cp:revision>
  <dcterms:modified xsi:type="dcterms:W3CDTF">2026-02-17T09:37:12Z</dcterms:modified>
</cp:coreProperties>
</file>