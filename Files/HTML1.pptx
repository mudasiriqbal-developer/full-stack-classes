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5" r:id="rId6"/>
    <p:sldId id="276" r:id="rId7"/>
    <p:sldId id="260" r:id="rId8"/>
    <p:sldId id="261" r:id="rId9"/>
    <p:sldId id="262" r:id="rId10"/>
    <p:sldId id="263" r:id="rId11"/>
    <p:sldId id="280" r:id="rId12"/>
    <p:sldId id="264" r:id="rId13"/>
    <p:sldId id="266" r:id="rId14"/>
    <p:sldId id="282" r:id="rId15"/>
    <p:sldId id="283" r:id="rId16"/>
    <p:sldId id="284" r:id="rId17"/>
    <p:sldId id="267" r:id="rId18"/>
    <p:sldId id="269" r:id="rId19"/>
    <p:sldId id="271" r:id="rId20"/>
    <p:sldId id="270" r:id="rId21"/>
    <p:sldId id="274" r:id="rId22"/>
    <p:sldId id="285" r:id="rId23"/>
    <p:sldId id="286" r:id="rId24"/>
    <p:sldId id="272" r:id="rId25"/>
    <p:sldId id="278" r:id="rId26"/>
    <p:sldId id="279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5208" autoAdjust="0"/>
  </p:normalViewPr>
  <p:slideViewPr>
    <p:cSldViewPr snapToGrid="0">
      <p:cViewPr varScale="1">
        <p:scale>
          <a:sx n="100" d="100"/>
          <a:sy n="100" d="100"/>
        </p:scale>
        <p:origin x="-67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4922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70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4696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5035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0246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704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2166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4834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115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7179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2905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358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8892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3409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5117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6188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8260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508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0169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4710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76032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23617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b8308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b8308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45974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946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F7F1CAE-2404-4EB6-8041-199CBF3F079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 smtClean="0"/>
              <a:t>HTML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F46E047-866C-4073-B314-AAF606AA7CE2}"/>
              </a:ext>
            </a:extLst>
          </p:cNvPr>
          <p:cNvSpPr/>
          <p:nvPr/>
        </p:nvSpPr>
        <p:spPr>
          <a:xfrm>
            <a:off x="461035" y="708433"/>
            <a:ext cx="32007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E729610-A631-430D-A364-28B00BF93FF7}"/>
              </a:ext>
            </a:extLst>
          </p:cNvPr>
          <p:cNvSpPr/>
          <p:nvPr/>
        </p:nvSpPr>
        <p:spPr>
          <a:xfrm>
            <a:off x="549088" y="1170098"/>
            <a:ext cx="69354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HTML?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Markup Language) is the standard language for creating web </a:t>
            </a: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pages or structure </a:t>
            </a: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pages</a:t>
            </a: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tags to define content structure.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AC6A245-49C7-454E-B6F3-C004880BC13B}"/>
              </a:ext>
            </a:extLst>
          </p:cNvPr>
          <p:cNvSpPr/>
          <p:nvPr/>
        </p:nvSpPr>
        <p:spPr>
          <a:xfrm>
            <a:off x="549088" y="2370427"/>
            <a:ext cx="51795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to learn.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structure and display content on the web.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25967FB-4F43-4DD3-987A-069299B84436}"/>
              </a:ext>
            </a:extLst>
          </p:cNvPr>
          <p:cNvSpPr/>
          <p:nvPr/>
        </p:nvSpPr>
        <p:spPr>
          <a:xfrm>
            <a:off x="467810" y="587090"/>
            <a:ext cx="18501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Structure: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78036BB-365F-4512-8B94-1D4205C83A87}"/>
              </a:ext>
            </a:extLst>
          </p:cNvPr>
          <p:cNvSpPr/>
          <p:nvPr/>
        </p:nvSpPr>
        <p:spPr>
          <a:xfrm>
            <a:off x="565466" y="1104415"/>
            <a:ext cx="374237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&lt;!DOCTYPE html&gt;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&lt;html&gt;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&lt;head&gt;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&lt;title&gt;My First Page&lt;/title&gt;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&lt;/head&gt;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&lt;body&gt;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&lt;h1&gt;Welcome to HTML!&lt;/h1&gt;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&lt;p&gt;This is a paragraph.&lt;/p&gt;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&lt;/body&gt;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&lt;/html&gt;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4FCB6B3-94EC-4381-A31D-E16BDA2CB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6130"/>
            <a:ext cx="2503308" cy="459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99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2BC8773-ED25-402A-B9B4-5CF1A23FF3AE}"/>
              </a:ext>
            </a:extLst>
          </p:cNvPr>
          <p:cNvSpPr/>
          <p:nvPr/>
        </p:nvSpPr>
        <p:spPr>
          <a:xfrm>
            <a:off x="446624" y="688259"/>
            <a:ext cx="33089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Tags/ Elements and Attributes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122B3B7D-6764-42DF-A500-51F83CA4FAD9}"/>
              </a:ext>
            </a:extLst>
          </p:cNvPr>
          <p:cNvSpPr/>
          <p:nvPr/>
        </p:nvSpPr>
        <p:spPr>
          <a:xfrm>
            <a:off x="551022" y="996927"/>
            <a:ext cx="348065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the structure of the content.</a:t>
            </a:r>
          </a:p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&lt;p&gt;, &lt;h1&gt;, &lt;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9CBC88EE-52B2-4C97-B1E1-9DBBB1F54576}"/>
              </a:ext>
            </a:extLst>
          </p:cNvPr>
          <p:cNvSpPr/>
          <p:nvPr/>
        </p:nvSpPr>
        <p:spPr>
          <a:xfrm>
            <a:off x="551022" y="1882230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additional information about tags.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7217E39-8921-430D-B6D7-0DB617E619A1}"/>
              </a:ext>
            </a:extLst>
          </p:cNvPr>
          <p:cNvSpPr/>
          <p:nvPr/>
        </p:nvSpPr>
        <p:spPr>
          <a:xfrm>
            <a:off x="551022" y="2432215"/>
            <a:ext cx="91723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FECA076-AB5F-49EA-B244-F29520311C66}"/>
              </a:ext>
            </a:extLst>
          </p:cNvPr>
          <p:cNvSpPr/>
          <p:nvPr/>
        </p:nvSpPr>
        <p:spPr>
          <a:xfrm>
            <a:off x="551022" y="2709349"/>
            <a:ext cx="559961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="image.jpg" alt=“this is a image of super car." width="300"&gt;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3B033D8-565C-4973-AF68-29A2C8140089}"/>
              </a:ext>
            </a:extLst>
          </p:cNvPr>
          <p:cNvSpPr/>
          <p:nvPr/>
        </p:nvSpPr>
        <p:spPr>
          <a:xfrm>
            <a:off x="551022" y="3410455"/>
            <a:ext cx="217239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Tags Overview: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F71DF36F-F6C5-4A08-B213-CCE315D9FD5F}"/>
              </a:ext>
            </a:extLst>
          </p:cNvPr>
          <p:cNvSpPr/>
          <p:nvPr/>
        </p:nvSpPr>
        <p:spPr>
          <a:xfrm>
            <a:off x="600390" y="3657334"/>
            <a:ext cx="27736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Headings: &lt;h1&gt; to &lt;h6&gt;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Paragraphs: &lt;p&gt;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Images: &lt;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Links: &lt;a&gt;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2D88A0C7-C19A-4920-8D6B-27298B17C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40" y="248811"/>
            <a:ext cx="2920398" cy="436680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278E978-E660-4822-B45F-E767E7CD8D1B}"/>
              </a:ext>
            </a:extLst>
          </p:cNvPr>
          <p:cNvSpPr/>
          <p:nvPr/>
        </p:nvSpPr>
        <p:spPr>
          <a:xfrm>
            <a:off x="560442" y="3028501"/>
            <a:ext cx="24673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accessibility and SEO.</a:t>
            </a:r>
          </a:p>
        </p:txBody>
      </p:sp>
    </p:spTree>
    <p:extLst>
      <p:ext uri="{BB962C8B-B14F-4D97-AF65-F5344CB8AC3E}">
        <p14:creationId xmlns:p14="http://schemas.microsoft.com/office/powerpoint/2010/main" val="34160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C8CB1B-09C7-4EE2-9DED-61A6EC51DB7E}"/>
              </a:ext>
            </a:extLst>
          </p:cNvPr>
          <p:cNvSpPr/>
          <p:nvPr/>
        </p:nvSpPr>
        <p:spPr>
          <a:xfrm>
            <a:off x="459681" y="653463"/>
            <a:ext cx="363112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Elements vs. Inline Elements in 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246396-074F-4FB0-8F49-3E70AA8ED250}"/>
              </a:ext>
            </a:extLst>
          </p:cNvPr>
          <p:cNvSpPr/>
          <p:nvPr/>
        </p:nvSpPr>
        <p:spPr>
          <a:xfrm>
            <a:off x="561279" y="976628"/>
            <a:ext cx="518637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Block Elements?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elements/ tag create a new line (or block) of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occupy the full width of their container by default.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Commonly used for structural layout.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C176B77-39A6-4968-93D5-AEA484B4BAF8}"/>
              </a:ext>
            </a:extLst>
          </p:cNvPr>
          <p:cNvSpPr/>
          <p:nvPr/>
        </p:nvSpPr>
        <p:spPr>
          <a:xfrm>
            <a:off x="561280" y="1997046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Block Elements: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&lt;div&gt;: General container.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&lt;p&gt;: Paragraph.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&lt;h1&gt; to &lt;h6&gt;: Headings.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&lt;ul&gt; and &lt;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&gt;: Lists.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&lt;table&gt;: Tables.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7683A57-700A-4CF2-BD7A-8B14D50B85E1}"/>
              </a:ext>
            </a:extLst>
          </p:cNvPr>
          <p:cNvSpPr/>
          <p:nvPr/>
        </p:nvSpPr>
        <p:spPr>
          <a:xfrm>
            <a:off x="1905000" y="3460481"/>
            <a:ext cx="533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&lt;h1&gt;This is a heading&lt;/h1&gt;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&lt;p&gt;This is a paragraph inside a block-level element.&lt;/p&gt;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38678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3362A93-A7B1-4C26-9344-53362081AB7C}"/>
              </a:ext>
            </a:extLst>
          </p:cNvPr>
          <p:cNvSpPr/>
          <p:nvPr/>
        </p:nvSpPr>
        <p:spPr>
          <a:xfrm>
            <a:off x="462980" y="590068"/>
            <a:ext cx="6764167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Inline Elements?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Inline elements do not start on a new line and occupy only as much width as necessary.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They are used to style or format content inside block elements.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5A1F1D2-5437-4C91-A0C8-13A453B4E18C}"/>
              </a:ext>
            </a:extLst>
          </p:cNvPr>
          <p:cNvSpPr/>
          <p:nvPr/>
        </p:nvSpPr>
        <p:spPr>
          <a:xfrm>
            <a:off x="462980" y="2052007"/>
            <a:ext cx="54356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 of Inline Elements: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&lt;span&gt;: Generic inline container.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&lt;a&gt;: Anchor (link).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&gt;: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&lt;b&gt; and 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&gt;: Bold and italic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&lt;strong&gt; and 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&gt;: Emphasized text.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D451A8B-4250-41F5-8E33-40A8CF65D65D}"/>
              </a:ext>
            </a:extLst>
          </p:cNvPr>
          <p:cNvSpPr/>
          <p:nvPr/>
        </p:nvSpPr>
        <p:spPr>
          <a:xfrm>
            <a:off x="1095586" y="3768674"/>
            <a:ext cx="695282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&lt;p&gt;This is &lt;strong&gt;bold&lt;/strong&gt; and &lt;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&gt;italic&lt;/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text inside a paragraph.&lt;/p&gt;</a:t>
            </a:r>
          </a:p>
        </p:txBody>
      </p:sp>
    </p:spTree>
    <p:extLst>
      <p:ext uri="{BB962C8B-B14F-4D97-AF65-F5344CB8AC3E}">
        <p14:creationId xmlns:p14="http://schemas.microsoft.com/office/powerpoint/2010/main" val="323502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280A454-B65A-4A71-93A1-8966B97CC70A}"/>
              </a:ext>
            </a:extLst>
          </p:cNvPr>
          <p:cNvSpPr/>
          <p:nvPr/>
        </p:nvSpPr>
        <p:spPr>
          <a:xfrm>
            <a:off x="430794" y="685234"/>
            <a:ext cx="233108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Text, Headings, and 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931FE75-03CC-4FFD-99A4-EDFFBAECF749}"/>
              </a:ext>
            </a:extLst>
          </p:cNvPr>
          <p:cNvSpPr/>
          <p:nvPr/>
        </p:nvSpPr>
        <p:spPr>
          <a:xfrm>
            <a:off x="525621" y="1001015"/>
            <a:ext cx="209840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Elements/Tag: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Bold: &lt;b&gt;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Italic: 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Underline: &lt;u&gt;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75386C4-9E22-47C2-BA39-5667981DB78D}"/>
              </a:ext>
            </a:extLst>
          </p:cNvPr>
          <p:cNvSpPr/>
          <p:nvPr/>
        </p:nvSpPr>
        <p:spPr>
          <a:xfrm>
            <a:off x="525621" y="2027272"/>
            <a:ext cx="965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EBC69BC-8094-4DFC-A0D9-A2D6F44D622D}"/>
              </a:ext>
            </a:extLst>
          </p:cNvPr>
          <p:cNvSpPr/>
          <p:nvPr/>
        </p:nvSpPr>
        <p:spPr>
          <a:xfrm>
            <a:off x="525621" y="2350437"/>
            <a:ext cx="43220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&lt;p&gt;This is &lt;b&gt;bold&lt;/b&gt; and 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&gt;italic&lt;/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text.&lt;/p&gt;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E528ADF-F0A7-4FF9-9418-5F0A4E5EC7AB}"/>
              </a:ext>
            </a:extLst>
          </p:cNvPr>
          <p:cNvSpPr/>
          <p:nvPr/>
        </p:nvSpPr>
        <p:spPr>
          <a:xfrm>
            <a:off x="430794" y="2864548"/>
            <a:ext cx="10246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8F7F4F9-0B84-4CDA-A4F6-41DF8EC58E32}"/>
              </a:ext>
            </a:extLst>
          </p:cNvPr>
          <p:cNvSpPr/>
          <p:nvPr/>
        </p:nvSpPr>
        <p:spPr>
          <a:xfrm>
            <a:off x="525621" y="3183902"/>
            <a:ext cx="30909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 different levels of headings.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B5A0738-2606-4942-840E-9CE27C6CE83D}"/>
              </a:ext>
            </a:extLst>
          </p:cNvPr>
          <p:cNvSpPr/>
          <p:nvPr/>
        </p:nvSpPr>
        <p:spPr>
          <a:xfrm>
            <a:off x="457242" y="3507067"/>
            <a:ext cx="965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9465BC5-9D89-4087-9A02-C2A285D926F9}"/>
              </a:ext>
            </a:extLst>
          </p:cNvPr>
          <p:cNvSpPr/>
          <p:nvPr/>
        </p:nvSpPr>
        <p:spPr>
          <a:xfrm>
            <a:off x="525621" y="3826421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&lt;h1&gt;Main Heading&lt;/h1&gt;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&lt;h2&gt;Subheading&lt;/h2&gt;</a:t>
            </a:r>
          </a:p>
        </p:txBody>
      </p:sp>
    </p:spTree>
    <p:extLst>
      <p:ext uri="{BB962C8B-B14F-4D97-AF65-F5344CB8AC3E}">
        <p14:creationId xmlns:p14="http://schemas.microsoft.com/office/powerpoint/2010/main" val="614159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38E4848-B63A-4821-A48B-6B611BDDBF56}"/>
              </a:ext>
            </a:extLst>
          </p:cNvPr>
          <p:cNvSpPr/>
          <p:nvPr/>
        </p:nvSpPr>
        <p:spPr>
          <a:xfrm>
            <a:off x="484294" y="734491"/>
            <a:ext cx="36880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hyperlinks using the &lt;a&gt; tag.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1C3030E-87C9-4FE7-98EB-3B0A788B85B6}"/>
              </a:ext>
            </a:extLst>
          </p:cNvPr>
          <p:cNvSpPr/>
          <p:nvPr/>
        </p:nvSpPr>
        <p:spPr>
          <a:xfrm>
            <a:off x="484294" y="1403906"/>
            <a:ext cx="91723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F1030A2-E580-4DA4-B02C-ECC97363A3F0}"/>
              </a:ext>
            </a:extLst>
          </p:cNvPr>
          <p:cNvSpPr/>
          <p:nvPr/>
        </p:nvSpPr>
        <p:spPr>
          <a:xfrm>
            <a:off x="484294" y="1711683"/>
            <a:ext cx="3401893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="https://www.example.com"&gt;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Visit Example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&lt;/a&gt;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="https://example.com"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target="_blank“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title="Visit Example"&gt;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Click Here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&lt;/a&gt;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09F8D7D-B91C-4F25-AC7E-4726AF055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574" y="-227874"/>
            <a:ext cx="5696373" cy="521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7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3D73EC9-CD7F-40FF-B4F4-1C5848308B6C}"/>
              </a:ext>
            </a:extLst>
          </p:cNvPr>
          <p:cNvSpPr/>
          <p:nvPr/>
        </p:nvSpPr>
        <p:spPr>
          <a:xfrm>
            <a:off x="463946" y="656979"/>
            <a:ext cx="1745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 and Lists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667EF96-E4D4-451B-BE6A-498C25B40A64}"/>
              </a:ext>
            </a:extLst>
          </p:cNvPr>
          <p:cNvSpPr/>
          <p:nvPr/>
        </p:nvSpPr>
        <p:spPr>
          <a:xfrm>
            <a:off x="587537" y="975149"/>
            <a:ext cx="34307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 images using the 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tag.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4543C63-9E4B-4E1D-86FE-E70FAD16AE20}"/>
              </a:ext>
            </a:extLst>
          </p:cNvPr>
          <p:cNvSpPr/>
          <p:nvPr/>
        </p:nvSpPr>
        <p:spPr>
          <a:xfrm>
            <a:off x="492960" y="1543746"/>
            <a:ext cx="9653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8D6A45F-B41F-47B2-B10C-445496B6EAF9}"/>
              </a:ext>
            </a:extLst>
          </p:cNvPr>
          <p:cNvSpPr/>
          <p:nvPr/>
        </p:nvSpPr>
        <p:spPr>
          <a:xfrm>
            <a:off x="757456" y="1860596"/>
            <a:ext cx="42546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="path/to/image.jpg" alt="Description"&gt;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3062EF7-6B27-4DE4-8DEA-7F565BC6AE58}"/>
              </a:ext>
            </a:extLst>
          </p:cNvPr>
          <p:cNvSpPr/>
          <p:nvPr/>
        </p:nvSpPr>
        <p:spPr>
          <a:xfrm>
            <a:off x="463946" y="2197990"/>
            <a:ext cx="6110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FD96FEB-597E-406C-9ABC-41AEA20ED235}"/>
              </a:ext>
            </a:extLst>
          </p:cNvPr>
          <p:cNvSpPr/>
          <p:nvPr/>
        </p:nvSpPr>
        <p:spPr>
          <a:xfrm>
            <a:off x="587537" y="2458537"/>
            <a:ext cx="16962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List: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4BA38BA5-48CC-47C1-ADEE-DFDC7AF6CC88}"/>
              </a:ext>
            </a:extLst>
          </p:cNvPr>
          <p:cNvSpPr/>
          <p:nvPr/>
        </p:nvSpPr>
        <p:spPr>
          <a:xfrm>
            <a:off x="765471" y="2766314"/>
            <a:ext cx="15457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&lt;li&gt;Item 1&lt;/li&gt;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&lt;li&gt;Item 2&lt;/li&gt;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D74095DC-B91C-457E-A791-24297A6BBAB4}"/>
              </a:ext>
            </a:extLst>
          </p:cNvPr>
          <p:cNvSpPr/>
          <p:nvPr/>
        </p:nvSpPr>
        <p:spPr>
          <a:xfrm>
            <a:off x="2852516" y="2458537"/>
            <a:ext cx="19111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Unordered List: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&lt;ul&gt;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E5EF894-C1BB-4442-984E-5278C65BC7CC}"/>
              </a:ext>
            </a:extLst>
          </p:cNvPr>
          <p:cNvSpPr/>
          <p:nvPr/>
        </p:nvSpPr>
        <p:spPr>
          <a:xfrm>
            <a:off x="3058611" y="2781702"/>
            <a:ext cx="168992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&lt;ul&gt;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&lt;li&gt;Item A&lt;/li&gt;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&lt;li&gt;Item B&lt;/li&gt;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&lt;/ul&gt;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F6173105-41EB-46EC-A703-499633D8C741}"/>
              </a:ext>
            </a:extLst>
          </p:cNvPr>
          <p:cNvSpPr/>
          <p:nvPr/>
        </p:nvSpPr>
        <p:spPr>
          <a:xfrm>
            <a:off x="5319473" y="2415802"/>
            <a:ext cx="12602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Nested Lists: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EC26E45B-279B-4B02-97FC-87A5FB046CAF}"/>
              </a:ext>
            </a:extLst>
          </p:cNvPr>
          <p:cNvSpPr/>
          <p:nvPr/>
        </p:nvSpPr>
        <p:spPr>
          <a:xfrm>
            <a:off x="5401977" y="2766314"/>
            <a:ext cx="193548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&lt;ul&gt;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&lt;li&gt;Fruits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&lt;ul&gt;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&lt;li&gt;Apple&lt;/li&gt;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&lt;/ul&gt;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&lt;/li&gt;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&lt;li&gt;Vegetables&lt;/li&gt;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&lt;/ul&gt;</a:t>
            </a:r>
          </a:p>
        </p:txBody>
      </p:sp>
    </p:spTree>
    <p:extLst>
      <p:ext uri="{BB962C8B-B14F-4D97-AF65-F5344CB8AC3E}">
        <p14:creationId xmlns:p14="http://schemas.microsoft.com/office/powerpoint/2010/main" val="19561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B38BE9A9-70AC-45E2-95B1-3F7EC45B1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93" y="788991"/>
            <a:ext cx="7422613" cy="356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27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65E72987-1BBA-4881-9620-046D626563F8}"/>
              </a:ext>
            </a:extLst>
          </p:cNvPr>
          <p:cNvSpPr/>
          <p:nvPr/>
        </p:nvSpPr>
        <p:spPr>
          <a:xfrm>
            <a:off x="442708" y="778716"/>
            <a:ext cx="11415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2ADFD7C-B831-4E0C-AD6A-C1842A85AF0F}"/>
              </a:ext>
            </a:extLst>
          </p:cNvPr>
          <p:cNvSpPr/>
          <p:nvPr/>
        </p:nvSpPr>
        <p:spPr>
          <a:xfrm>
            <a:off x="503668" y="1117270"/>
            <a:ext cx="4707716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Practice: Personal Profile Page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AD2B8FE-30CC-4C35-8666-561EBEC6CE50}"/>
              </a:ext>
            </a:extLst>
          </p:cNvPr>
          <p:cNvSpPr/>
          <p:nvPr/>
        </p:nvSpPr>
        <p:spPr>
          <a:xfrm>
            <a:off x="257385" y="1455824"/>
            <a:ext cx="7003628" cy="1808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IDE to your Local System.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your first HTML file.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simple HTML page introducing yourself.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headings, paragraphs, links, and images.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extensions(live server,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prettier, HTML, CSS support).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67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00D5B731-7EFE-4E34-A109-C7B9FECA06CC}"/>
              </a:ext>
            </a:extLst>
          </p:cNvPr>
          <p:cNvSpPr/>
          <p:nvPr/>
        </p:nvSpPr>
        <p:spPr>
          <a:xfrm>
            <a:off x="458737" y="717755"/>
            <a:ext cx="69602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69729EC-61B6-4F1B-A57A-AC6615006C0D}"/>
              </a:ext>
            </a:extLst>
          </p:cNvPr>
          <p:cNvSpPr/>
          <p:nvPr/>
        </p:nvSpPr>
        <p:spPr>
          <a:xfrm>
            <a:off x="540017" y="1045520"/>
            <a:ext cx="367977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organize data in rows and columns.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215D517-5B56-450B-9142-2AAB050278B4}"/>
              </a:ext>
            </a:extLst>
          </p:cNvPr>
          <p:cNvSpPr/>
          <p:nvPr/>
        </p:nvSpPr>
        <p:spPr>
          <a:xfrm>
            <a:off x="458737" y="1599518"/>
            <a:ext cx="98296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AF6AC72-50F1-4D1A-B3B0-CC8302750EB8}"/>
              </a:ext>
            </a:extLst>
          </p:cNvPr>
          <p:cNvSpPr/>
          <p:nvPr/>
        </p:nvSpPr>
        <p:spPr>
          <a:xfrm>
            <a:off x="458737" y="1978898"/>
            <a:ext cx="2286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&lt;table border="1"&gt; 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&lt;tr&gt;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&gt;Header 1&lt;/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&gt;Header 2&lt;/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&lt;/tr&gt;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&lt;tr&gt;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&lt;td&gt;Data 1&lt;/td&gt;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&lt;td&gt;Data 2&lt;/td&gt;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&lt;/tr&gt;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&lt;/table&gt;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2F6B9B2F-0C49-4ED0-932D-0BA3F8AA5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87" y="1309974"/>
            <a:ext cx="7077755" cy="360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47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5C97BE2-3638-48B7-9A42-63D305DC4987}"/>
              </a:ext>
            </a:extLst>
          </p:cNvPr>
          <p:cNvSpPr/>
          <p:nvPr/>
        </p:nvSpPr>
        <p:spPr>
          <a:xfrm>
            <a:off x="474483" y="670342"/>
            <a:ext cx="231826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Forms and Form Elements: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CAD593D-BFE5-4FA2-BD31-A49F91BEEF41}"/>
              </a:ext>
            </a:extLst>
          </p:cNvPr>
          <p:cNvSpPr/>
          <p:nvPr/>
        </p:nvSpPr>
        <p:spPr>
          <a:xfrm>
            <a:off x="474483" y="1036753"/>
            <a:ext cx="313231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collect user input.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1B01CA2-73C9-4259-AC61-DC03B1B656EB}"/>
              </a:ext>
            </a:extLst>
          </p:cNvPr>
          <p:cNvSpPr/>
          <p:nvPr/>
        </p:nvSpPr>
        <p:spPr>
          <a:xfrm>
            <a:off x="474483" y="1559973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Elements/ tag: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&lt;input&gt;: Collects text, passwords,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textarea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&gt;: Multi-line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&lt;select&gt;: Dropdowns.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A9A1961-147B-43C9-B81C-E2D5C15FF478}"/>
              </a:ext>
            </a:extLst>
          </p:cNvPr>
          <p:cNvSpPr/>
          <p:nvPr/>
        </p:nvSpPr>
        <p:spPr>
          <a:xfrm>
            <a:off x="523074" y="2571750"/>
            <a:ext cx="91723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CC2E6A3-8EB4-4F88-8C57-83BE2179DD50}"/>
              </a:ext>
            </a:extLst>
          </p:cNvPr>
          <p:cNvSpPr/>
          <p:nvPr/>
        </p:nvSpPr>
        <p:spPr>
          <a:xfrm>
            <a:off x="657012" y="2832974"/>
            <a:ext cx="4054625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&lt;form&gt;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&lt;label for="name"&gt;Name:&lt;/label&gt;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&lt;input type="text" id="name" name="name"&gt;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&lt;input type="submit" value="Submit"&gt;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&lt;/form&gt;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D1BA721-1C37-447A-B513-0D4D454FB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0" y="755437"/>
            <a:ext cx="4895593" cy="425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57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3D25837-F008-407B-8FBD-AA82257207D9}"/>
              </a:ext>
            </a:extLst>
          </p:cNvPr>
          <p:cNvSpPr/>
          <p:nvPr/>
        </p:nvSpPr>
        <p:spPr>
          <a:xfrm>
            <a:off x="470745" y="622670"/>
            <a:ext cx="6593841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Forms Input Types &amp; Validation</a:t>
            </a:r>
          </a:p>
          <a:p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Input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- For single-line text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- Ensures only valid email addresses are entered.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password - Hides user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- Allows only numeric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- Provides a date picker.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checkbox - Enables multiple selections.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radio - Allows a single selection from multiple choices.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- Allows file uploads.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range - Creates a slider input.</a:t>
            </a:r>
          </a:p>
        </p:txBody>
      </p:sp>
    </p:spTree>
    <p:extLst>
      <p:ext uri="{BB962C8B-B14F-4D97-AF65-F5344CB8AC3E}">
        <p14:creationId xmlns:p14="http://schemas.microsoft.com/office/powerpoint/2010/main" val="3363266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B81328FD-F73B-4623-AFF9-ABC38909358D}"/>
              </a:ext>
            </a:extLst>
          </p:cNvPr>
          <p:cNvSpPr/>
          <p:nvPr/>
        </p:nvSpPr>
        <p:spPr>
          <a:xfrm>
            <a:off x="457199" y="579424"/>
            <a:ext cx="6566747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 Validation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 - Ensures a field must be filled.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maxlength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="10" - Limits the number of characters.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pattern="[A-Za-z]+" - Specifies an input format using regex.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placeholder="Enter your email" - Shows a hint in the input field.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8BDFD8E2-A97E-4246-A064-606A5359806A}"/>
              </a:ext>
            </a:extLst>
          </p:cNvPr>
          <p:cNvSpPr/>
          <p:nvPr/>
        </p:nvSpPr>
        <p:spPr>
          <a:xfrm>
            <a:off x="457198" y="2121138"/>
            <a:ext cx="622808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&lt;form&gt;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&lt;label for="email"&gt;Email:&lt;/label&gt;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&lt;input type="email" id="email" name="email" required&gt;  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&lt;input type="submit" value="Submit"&gt;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1951977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BDA192D-FCDE-4E7C-BCA1-8E74D6700700}"/>
              </a:ext>
            </a:extLst>
          </p:cNvPr>
          <p:cNvSpPr/>
          <p:nvPr/>
        </p:nvSpPr>
        <p:spPr>
          <a:xfrm>
            <a:off x="497839" y="740030"/>
            <a:ext cx="57945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proper labels for accessibility.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 required with pattern for strong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mobile-friendly input fields.</a:t>
            </a:r>
          </a:p>
        </p:txBody>
      </p:sp>
    </p:spTree>
    <p:extLst>
      <p:ext uri="{BB962C8B-B14F-4D97-AF65-F5344CB8AC3E}">
        <p14:creationId xmlns:p14="http://schemas.microsoft.com/office/powerpoint/2010/main" val="3307170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95BD52E3-1C7B-4406-95BD-02453CF5930A}"/>
              </a:ext>
            </a:extLst>
          </p:cNvPr>
          <p:cNvSpPr/>
          <p:nvPr/>
        </p:nvSpPr>
        <p:spPr>
          <a:xfrm>
            <a:off x="455161" y="671940"/>
            <a:ext cx="3098925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Containers (div, section, </a:t>
            </a:r>
            <a:r>
              <a:rPr lang="fr-FR" sz="1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footer</a:t>
            </a:r>
            <a:r>
              <a:rPr lang="fr-FR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etc.)</a:t>
            </a: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D5188E3-794F-4D8A-8BB4-017087211B7D}"/>
              </a:ext>
            </a:extLst>
          </p:cNvPr>
          <p:cNvSpPr/>
          <p:nvPr/>
        </p:nvSpPr>
        <p:spPr>
          <a:xfrm>
            <a:off x="568819" y="1000875"/>
            <a:ext cx="42844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are Containers?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group content for styling and structure.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5AA385CA-1B0F-4B8F-956E-1174100FDA3E}"/>
              </a:ext>
            </a:extLst>
          </p:cNvPr>
          <p:cNvSpPr/>
          <p:nvPr/>
        </p:nvSpPr>
        <p:spPr>
          <a:xfrm>
            <a:off x="568819" y="1556087"/>
            <a:ext cx="382383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Tags: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&lt;div&gt;: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General-purpose container.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&lt;section&gt;: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Defines sections of a document.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&lt;footer&gt;: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Defines the footer area.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BBB8F71-89A7-417D-BF86-82A29B820A53}"/>
              </a:ext>
            </a:extLst>
          </p:cNvPr>
          <p:cNvSpPr/>
          <p:nvPr/>
        </p:nvSpPr>
        <p:spPr>
          <a:xfrm>
            <a:off x="568819" y="2583180"/>
            <a:ext cx="91723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687F0DC-049F-4F36-8AD0-ECC6E606B9CC}"/>
              </a:ext>
            </a:extLst>
          </p:cNvPr>
          <p:cNvSpPr/>
          <p:nvPr/>
        </p:nvSpPr>
        <p:spPr>
          <a:xfrm>
            <a:off x="1027438" y="2917775"/>
            <a:ext cx="326136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&lt;section&gt;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&lt;div&gt;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&lt;h2&gt;About Us&lt;/h2&gt;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&lt;p&gt;This is some content.&lt;/p&gt;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&lt;/div&gt;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&lt;/section&gt;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&lt;footer&gt;© 2025 My Website&lt;/footer&gt;</a:t>
            </a:r>
          </a:p>
        </p:txBody>
      </p:sp>
    </p:spTree>
    <p:extLst>
      <p:ext uri="{BB962C8B-B14F-4D97-AF65-F5344CB8AC3E}">
        <p14:creationId xmlns:p14="http://schemas.microsoft.com/office/powerpoint/2010/main" val="415596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0C4BC3E-C5E8-4F0D-AEE8-DCB0CE1DBD30}"/>
              </a:ext>
            </a:extLst>
          </p:cNvPr>
          <p:cNvSpPr/>
          <p:nvPr/>
        </p:nvSpPr>
        <p:spPr>
          <a:xfrm>
            <a:off x="452113" y="704208"/>
            <a:ext cx="296747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2: Create a List and a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34A7E72-F25D-46E1-BC8F-DA46B93B9459}"/>
              </a:ext>
            </a:extLst>
          </p:cNvPr>
          <p:cNvSpPr/>
          <p:nvPr/>
        </p:nvSpPr>
        <p:spPr>
          <a:xfrm>
            <a:off x="513072" y="1027373"/>
            <a:ext cx="492252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Learn how to organize data using lists and tables.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A9DCF7B2-3F11-4035-8AD0-1ABA0BB65568}"/>
              </a:ext>
            </a:extLst>
          </p:cNvPr>
          <p:cNvSpPr/>
          <p:nvPr/>
        </p:nvSpPr>
        <p:spPr>
          <a:xfrm>
            <a:off x="513073" y="1581371"/>
            <a:ext cx="118494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8B3283A-4F9D-4E59-B522-2C0828962A30}"/>
              </a:ext>
            </a:extLst>
          </p:cNvPr>
          <p:cNvSpPr/>
          <p:nvPr/>
        </p:nvSpPr>
        <p:spPr>
          <a:xfrm>
            <a:off x="580806" y="1904536"/>
            <a:ext cx="51562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ordered list of your top 5 favorite movies.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table with 2 rows and 3 columns, listing details about any three fruits (e.g., Name, Color, Taste, season, origin).</a:t>
            </a:r>
          </a:p>
        </p:txBody>
      </p:sp>
    </p:spTree>
    <p:extLst>
      <p:ext uri="{BB962C8B-B14F-4D97-AF65-F5344CB8AC3E}">
        <p14:creationId xmlns:p14="http://schemas.microsoft.com/office/powerpoint/2010/main" val="3260953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9BBD572-827D-41A0-A7BA-CF30CEE7C9C4}"/>
              </a:ext>
            </a:extLst>
          </p:cNvPr>
          <p:cNvSpPr/>
          <p:nvPr/>
        </p:nvSpPr>
        <p:spPr>
          <a:xfrm>
            <a:off x="511957" y="636476"/>
            <a:ext cx="143020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HTML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4AAE935A-D0D0-438D-8104-2BBD0E3FCD5F}"/>
              </a:ext>
            </a:extLst>
          </p:cNvPr>
          <p:cNvSpPr/>
          <p:nvPr/>
        </p:nvSpPr>
        <p:spPr>
          <a:xfrm>
            <a:off x="600010" y="959641"/>
            <a:ext cx="632233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Semantic HTML?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Tags that provide meaning to content (e.g., &lt;article&gt;, &lt;aside&gt;, &lt;nav&gt;).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accessibility and SEO.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658D248-BB6E-487B-80F8-9948A1883784}"/>
              </a:ext>
            </a:extLst>
          </p:cNvPr>
          <p:cNvSpPr/>
          <p:nvPr/>
        </p:nvSpPr>
        <p:spPr>
          <a:xfrm>
            <a:off x="1227057" y="1744471"/>
            <a:ext cx="2658533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&lt;header&gt;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&lt;h1&gt;My Website&lt;/h1&gt;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&lt;/header&gt;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&lt;nav&gt;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&lt;a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="#home"&gt;Home&lt;/a&gt;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&lt;a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href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="#about"&gt;About&lt;/a&gt;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&lt;/nav&gt;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&lt;article&gt;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&lt;h2&gt;Welcome!&lt;/h2&gt;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&lt;p&gt;This is an article.&lt;/p&gt;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&lt;/article&gt;</a:t>
            </a:r>
          </a:p>
        </p:txBody>
      </p:sp>
    </p:spTree>
    <p:extLst>
      <p:ext uri="{BB962C8B-B14F-4D97-AF65-F5344CB8AC3E}">
        <p14:creationId xmlns:p14="http://schemas.microsoft.com/office/powerpoint/2010/main" val="3855260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F371D24-E80F-4179-A561-8964E13929B0}"/>
              </a:ext>
            </a:extLst>
          </p:cNvPr>
          <p:cNvSpPr/>
          <p:nvPr/>
        </p:nvSpPr>
        <p:spPr>
          <a:xfrm>
            <a:off x="465044" y="670342"/>
            <a:ext cx="189346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Multimedia Elements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5EEF846-6E9E-4DBC-BB57-B89C6E50137B}"/>
              </a:ext>
            </a:extLst>
          </p:cNvPr>
          <p:cNvSpPr/>
          <p:nvPr/>
        </p:nvSpPr>
        <p:spPr>
          <a:xfrm>
            <a:off x="512457" y="995454"/>
            <a:ext cx="196079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 and Video Tags: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F278888-59AA-427F-B517-B24657020DC3}"/>
              </a:ext>
            </a:extLst>
          </p:cNvPr>
          <p:cNvSpPr/>
          <p:nvPr/>
        </p:nvSpPr>
        <p:spPr>
          <a:xfrm>
            <a:off x="856827" y="1318619"/>
            <a:ext cx="399965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&lt;audio controls&gt;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&lt;source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="audio.mp3" type="audio/mpeg"&gt;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&lt;/audio&gt;</a:t>
            </a: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&lt;video controls&gt;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&lt;source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="video.mp4" type="video/mp4"&gt;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&lt;/video&gt;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9D830123-BFA5-4840-95BE-C3CB4EE25165}"/>
              </a:ext>
            </a:extLst>
          </p:cNvPr>
          <p:cNvSpPr/>
          <p:nvPr/>
        </p:nvSpPr>
        <p:spPr>
          <a:xfrm>
            <a:off x="512457" y="3370436"/>
            <a:ext cx="148790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iframes in 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3D36865-D13B-4459-BB9A-2AC62B79367F}"/>
              </a:ext>
            </a:extLst>
          </p:cNvPr>
          <p:cNvSpPr/>
          <p:nvPr/>
        </p:nvSpPr>
        <p:spPr>
          <a:xfrm>
            <a:off x="512457" y="3693601"/>
            <a:ext cx="646407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iframe (inline frame) is an HTML element used to embed another HTML page or external content within a web page.</a:t>
            </a:r>
          </a:p>
        </p:txBody>
      </p:sp>
    </p:spTree>
    <p:extLst>
      <p:ext uri="{BB962C8B-B14F-4D97-AF65-F5344CB8AC3E}">
        <p14:creationId xmlns:p14="http://schemas.microsoft.com/office/powerpoint/2010/main" val="306564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C3C56657-1CC1-4131-A476-2DFE68DD3DCE}"/>
              </a:ext>
            </a:extLst>
          </p:cNvPr>
          <p:cNvSpPr/>
          <p:nvPr/>
        </p:nvSpPr>
        <p:spPr>
          <a:xfrm>
            <a:off x="465044" y="771257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 iframes?</a:t>
            </a:r>
          </a:p>
          <a:p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display external content,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Videos (e.g., YouTube embeds).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Maps (e.g., Google Maps).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Another webpage or application.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D4CE184-A9FF-4872-8C84-311B2C3CDB1E}"/>
              </a:ext>
            </a:extLst>
          </p:cNvPr>
          <p:cNvSpPr/>
          <p:nvPr/>
        </p:nvSpPr>
        <p:spPr>
          <a:xfrm>
            <a:off x="519230" y="2248585"/>
            <a:ext cx="640311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&lt;iframe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="https://www.example.com" width="600" height="400"&gt;&lt;/iframe&gt;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5E0D36D-E496-48C7-BC66-62535D10CC76}"/>
              </a:ext>
            </a:extLst>
          </p:cNvPr>
          <p:cNvSpPr/>
          <p:nvPr/>
        </p:nvSpPr>
        <p:spPr>
          <a:xfrm>
            <a:off x="519230" y="2571750"/>
            <a:ext cx="48452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URL of the page to embed.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width and height: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Dimensions of the iframe.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Improves accessibility for screen readers.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frameborder: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Controls the border (0 = no border).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Controls permissions (e.g., </a:t>
            </a:r>
            <a:r>
              <a:rPr lang="en-US" sz="15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autoplay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videos).</a:t>
            </a:r>
          </a:p>
        </p:txBody>
      </p:sp>
    </p:spTree>
    <p:extLst>
      <p:ext uri="{BB962C8B-B14F-4D97-AF65-F5344CB8AC3E}">
        <p14:creationId xmlns:p14="http://schemas.microsoft.com/office/powerpoint/2010/main" val="414938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2A98AD2-B986-40F7-875E-5FE9477376F6}"/>
              </a:ext>
            </a:extLst>
          </p:cNvPr>
          <p:cNvSpPr/>
          <p:nvPr/>
        </p:nvSpPr>
        <p:spPr>
          <a:xfrm>
            <a:off x="436878" y="606575"/>
            <a:ext cx="727794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 Best Practices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Use Semantic 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Bad: &lt;div class="header"&gt;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Good: &lt;header&gt;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Write Clean &amp; Readable Code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Bad: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&lt;h1&gt;Title&lt;/h1&gt;&lt;p&gt;Paragraph&lt;/p&gt;&lt;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="image.jpg"&gt;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&lt;h1&gt;Title&lt;/h1&gt;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&lt;p&gt;Paragraph&lt;/p&gt;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="image.jpg" alt="Description"&gt;</a:t>
            </a:r>
          </a:p>
        </p:txBody>
      </p:sp>
    </p:spTree>
    <p:extLst>
      <p:ext uri="{BB962C8B-B14F-4D97-AF65-F5344CB8AC3E}">
        <p14:creationId xmlns:p14="http://schemas.microsoft.com/office/powerpoint/2010/main" val="1895374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A56AC9F-5966-4807-91FA-1878DA3A45BE}"/>
              </a:ext>
            </a:extLst>
          </p:cNvPr>
          <p:cNvSpPr/>
          <p:nvPr/>
        </p:nvSpPr>
        <p:spPr>
          <a:xfrm>
            <a:off x="463973" y="613943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Accessibility Matters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alt attributes for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label for form inputs.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proper contrast &amp; font sizes.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SEO 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descriptive meta tags.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Organize headings (&lt;h1&gt;, &lt;h2&gt;, &lt;h3&gt;).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images with alt attributes.</a:t>
            </a:r>
          </a:p>
        </p:txBody>
      </p:sp>
    </p:spTree>
    <p:extLst>
      <p:ext uri="{BB962C8B-B14F-4D97-AF65-F5344CB8AC3E}">
        <p14:creationId xmlns:p14="http://schemas.microsoft.com/office/powerpoint/2010/main" val="1731369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602551B-A3F7-4E4D-9FE9-9D8DC69DE2F4}"/>
              </a:ext>
            </a:extLst>
          </p:cNvPr>
          <p:cNvSpPr/>
          <p:nvPr/>
        </p:nvSpPr>
        <p:spPr>
          <a:xfrm>
            <a:off x="441931" y="714553"/>
            <a:ext cx="303801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1: Build a Personal Bio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CE59C09-C37F-4DB4-828C-B665AAD44290}"/>
              </a:ext>
            </a:extLst>
          </p:cNvPr>
          <p:cNvSpPr/>
          <p:nvPr/>
        </p:nvSpPr>
        <p:spPr>
          <a:xfrm>
            <a:off x="502891" y="1037718"/>
            <a:ext cx="507156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 semantic tags to create a structured bio page.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E429784-7564-4DDB-B56A-C422ECBCE4E7}"/>
              </a:ext>
            </a:extLst>
          </p:cNvPr>
          <p:cNvSpPr/>
          <p:nvPr/>
        </p:nvSpPr>
        <p:spPr>
          <a:xfrm>
            <a:off x="502891" y="1357409"/>
            <a:ext cx="118494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1FC76E00-FB82-47DF-BD1F-14436354BE55}"/>
              </a:ext>
            </a:extLst>
          </p:cNvPr>
          <p:cNvSpPr/>
          <p:nvPr/>
        </p:nvSpPr>
        <p:spPr>
          <a:xfrm>
            <a:off x="789092" y="1680574"/>
            <a:ext cx="573235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&lt;header&gt;, &lt;nav&gt;, &lt;section&gt;, and &lt;footer&gt; tags.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a short biography, a list of hobbies, and a footer with contact information.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BBCEB5C-D0BB-485B-843B-EB94A870D515}"/>
              </a:ext>
            </a:extLst>
          </p:cNvPr>
          <p:cNvSpPr/>
          <p:nvPr/>
        </p:nvSpPr>
        <p:spPr>
          <a:xfrm>
            <a:off x="502891" y="2678097"/>
            <a:ext cx="338426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2: Add Multimedia to Your Page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EB02290-73A2-421F-ADDC-7AE449A1A8C1}"/>
              </a:ext>
            </a:extLst>
          </p:cNvPr>
          <p:cNvSpPr/>
          <p:nvPr/>
        </p:nvSpPr>
        <p:spPr>
          <a:xfrm>
            <a:off x="553132" y="3001262"/>
            <a:ext cx="535037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Enhance your bio page with multimedia elements.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6717923-CB5A-4E56-9609-41C33D504DC7}"/>
              </a:ext>
            </a:extLst>
          </p:cNvPr>
          <p:cNvSpPr/>
          <p:nvPr/>
        </p:nvSpPr>
        <p:spPr>
          <a:xfrm>
            <a:off x="553132" y="3324427"/>
            <a:ext cx="118494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5C80A2A-52E7-4758-9555-E89F4FC40DA6}"/>
              </a:ext>
            </a:extLst>
          </p:cNvPr>
          <p:cNvSpPr/>
          <p:nvPr/>
        </p:nvSpPr>
        <p:spPr>
          <a:xfrm>
            <a:off x="789092" y="3647592"/>
            <a:ext cx="4572000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video about one of your hobbies.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an audio clip of your favorite song or a podcast.</a:t>
            </a:r>
          </a:p>
        </p:txBody>
      </p:sp>
    </p:spTree>
    <p:extLst>
      <p:ext uri="{BB962C8B-B14F-4D97-AF65-F5344CB8AC3E}">
        <p14:creationId xmlns:p14="http://schemas.microsoft.com/office/powerpoint/2010/main" val="303185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B70046F0-B37D-447A-965E-4EB3368889A6}"/>
              </a:ext>
            </a:extLst>
          </p:cNvPr>
          <p:cNvSpPr/>
          <p:nvPr/>
        </p:nvSpPr>
        <p:spPr>
          <a:xfrm>
            <a:off x="407096" y="731757"/>
            <a:ext cx="17011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Submission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250BD60-088E-45F4-9E84-A5D87DC7E7CE}"/>
              </a:ext>
            </a:extLst>
          </p:cNvPr>
          <p:cNvSpPr/>
          <p:nvPr/>
        </p:nvSpPr>
        <p:spPr>
          <a:xfrm>
            <a:off x="485676" y="1065595"/>
            <a:ext cx="4886424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Evidence: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screenshots or record a short video for each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your evidence clearly shows the completed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70F3B4A-4629-4C18-ADAA-B2F699C82F52}"/>
              </a:ext>
            </a:extLst>
          </p:cNvPr>
          <p:cNvSpPr/>
          <p:nvPr/>
        </p:nvSpPr>
        <p:spPr>
          <a:xfrm>
            <a:off x="400749" y="1857418"/>
            <a:ext cx="597941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Tasks: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each task as a separate folder or file in your GitHub repository</a:t>
            </a:r>
            <a:r>
              <a:rPr lang="en-US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also on </a:t>
            </a:r>
            <a:r>
              <a:rPr lang="en-GB" sz="15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28E690E-992D-4F7C-8396-B8B2EF2C760A}"/>
              </a:ext>
            </a:extLst>
          </p:cNvPr>
          <p:cNvSpPr/>
          <p:nvPr/>
        </p:nvSpPr>
        <p:spPr>
          <a:xfrm>
            <a:off x="400749" y="2571750"/>
            <a:ext cx="7143051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short post summarizing what you learned and how you completed the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 your key takeaways.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Mention the following account in your post: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500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Shahzad</a:t>
            </a:r>
            <a:r>
              <a:rPr lang="en-GB" sz="15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khan</a:t>
            </a:r>
            <a:endParaRPr lang="en-US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209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1039</TotalTime>
  <Words>1742</Words>
  <Application>Microsoft Office PowerPoint</Application>
  <PresentationFormat>On-screen Show (16:9)</PresentationFormat>
  <Paragraphs>277</Paragraphs>
  <Slides>26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Concourse</vt:lpstr>
      <vt:lpstr>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shahzad</cp:lastModifiedBy>
  <cp:revision>62</cp:revision>
  <dcterms:modified xsi:type="dcterms:W3CDTF">2026-02-18T04:17:38Z</dcterms:modified>
</cp:coreProperties>
</file>