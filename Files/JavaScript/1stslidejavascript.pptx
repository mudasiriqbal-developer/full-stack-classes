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17"/>
  </p:notesMasterIdLst>
  <p:sldIdLst>
    <p:sldId id="256" r:id="rId2"/>
    <p:sldId id="257" r:id="rId3"/>
    <p:sldId id="322" r:id="rId4"/>
    <p:sldId id="323" r:id="rId5"/>
    <p:sldId id="324" r:id="rId6"/>
    <p:sldId id="430" r:id="rId7"/>
    <p:sldId id="325" r:id="rId8"/>
    <p:sldId id="286" r:id="rId9"/>
    <p:sldId id="327" r:id="rId10"/>
    <p:sldId id="329" r:id="rId11"/>
    <p:sldId id="330" r:id="rId12"/>
    <p:sldId id="326" r:id="rId13"/>
    <p:sldId id="328" r:id="rId14"/>
    <p:sldId id="331" r:id="rId15"/>
    <p:sldId id="285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7" autoAdjust="0"/>
    <p:restoredTop sz="94660"/>
  </p:normalViewPr>
  <p:slideViewPr>
    <p:cSldViewPr snapToGrid="0">
      <p:cViewPr varScale="1">
        <p:scale>
          <a:sx n="84" d="100"/>
          <a:sy n="84" d="100"/>
        </p:scale>
        <p:origin x="916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45701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7391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4627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8131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4694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1667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96330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9322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7278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7012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53371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74426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33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3714750"/>
            <a:ext cx="9147765" cy="1434066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4AF466F-BDA4-4F18-9C7B-FF0A9A1B0E80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607B-A47E-422C-9BEF-122CCDB7C526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A7CB-BEE6-4F99-898E-913F06E8E125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hevron 6"/>
          <p:cNvSpPr/>
          <p:nvPr/>
        </p:nvSpPr>
        <p:spPr>
          <a:xfrm>
            <a:off x="3636680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300C-6FC5-4FC3-AF1A-075E4F50620D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295D-4A77-4DEB-B04C-9F4282A8BC04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8685-4D0C-42D5-8013-B5904CD1FCBC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6C0-9885-4BA9-BBFA-A52CBFEBB775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4805958"/>
            <a:ext cx="1920240" cy="274320"/>
          </a:xfrm>
        </p:spPr>
        <p:txBody>
          <a:bodyPr/>
          <a:lstStyle/>
          <a:p>
            <a:fld id="{EBEE1B38-C5EB-4D66-9137-0AFE9CDEDE8F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27B613C-1AD7-49D3-885D-F654C5CDBAA6}" type="datetime1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3" y="4805958"/>
            <a:ext cx="235068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4290-6522-4139-852E-05BD9E7F0D2E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955F9-81EA-47C5-8059-9E5C2B437C70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327B613C-1AD7-49D3-885D-F654C5CDBAA6}" type="datetime1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526" y="1705510"/>
            <a:ext cx="7543800" cy="1083095"/>
          </a:xfrm>
        </p:spPr>
        <p:txBody>
          <a:bodyPr/>
          <a:lstStyle/>
          <a:p>
            <a:pPr algn="ctr"/>
            <a:r>
              <a:rPr lang="en-GB" dirty="0"/>
              <a:t>JAVASCRIPT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DC813C-3AC5-4BF8-87D4-9484BCA03CF5}"/>
              </a:ext>
            </a:extLst>
          </p:cNvPr>
          <p:cNvSpPr/>
          <p:nvPr/>
        </p:nvSpPr>
        <p:spPr>
          <a:xfrm>
            <a:off x="492918" y="733991"/>
            <a:ext cx="8293895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JavaScript?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(JS) is a high-level, interpreted programming language used to make web pages interactive.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Runs directly in web browsers, allowing dynamic and responsive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both client-side (browser) and server-side (Node.js) development.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Uses of JavaScript: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 validation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(checking user input before submission).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Animations and transitions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(smooth effects for UI elements).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elements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(buttons, modals, dropdown menus, carousels).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 manipulation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(dynamically updating content without reloading the page).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 handling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(responding to user actions like clicks and keypresses).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CDA182-69B7-4642-AE59-73EDF0D850D9}"/>
              </a:ext>
            </a:extLst>
          </p:cNvPr>
          <p:cNvSpPr/>
          <p:nvPr/>
        </p:nvSpPr>
        <p:spPr>
          <a:xfrm>
            <a:off x="435768" y="782539"/>
            <a:ext cx="7793833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Brief History of JavaScript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by: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Brendan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Eich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1995 while working at Netscape.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Original Name: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Mocha → Later renamed to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LiveScript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Finally, JavaScript.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Standardization: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ECMAScript (ES) was introduced to standardize JavaScript.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 Versions: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ES6 (2015):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Introduced let, const, arrow functions, template literals,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Latest Versions (ES2023):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Include new features like async/await, optional chaining, and more.</a:t>
            </a:r>
          </a:p>
        </p:txBody>
      </p:sp>
    </p:spTree>
    <p:extLst>
      <p:ext uri="{BB962C8B-B14F-4D97-AF65-F5344CB8AC3E}">
        <p14:creationId xmlns:p14="http://schemas.microsoft.com/office/powerpoint/2010/main" val="120046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98227F-EC42-4C84-B25B-77D98A8F45DC}"/>
              </a:ext>
            </a:extLst>
          </p:cNvPr>
          <p:cNvSpPr/>
          <p:nvPr/>
        </p:nvSpPr>
        <p:spPr>
          <a:xfrm>
            <a:off x="455312" y="768519"/>
            <a:ext cx="51427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 of JavaScript in Web Development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3CA897-3B8C-4A51-950B-E3C9F80B5F70}"/>
              </a:ext>
            </a:extLst>
          </p:cNvPr>
          <p:cNvSpPr/>
          <p:nvPr/>
        </p:nvSpPr>
        <p:spPr>
          <a:xfrm>
            <a:off x="541037" y="1168629"/>
            <a:ext cx="806192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JavaScript is a core technology of modern web development along with HTML and CSS.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Enhances User Experience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Enables dynamic and interactive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Client-Side Processing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Reduces server load by executing code in the browser.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Cross-Platform Compatibility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Works on all major browsers and devices.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Powerful Ecosystem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Numerous libraries and frameworks for fast development.</a:t>
            </a:r>
          </a:p>
        </p:txBody>
      </p:sp>
    </p:spTree>
    <p:extLst>
      <p:ext uri="{BB962C8B-B14F-4D97-AF65-F5344CB8AC3E}">
        <p14:creationId xmlns:p14="http://schemas.microsoft.com/office/powerpoint/2010/main" val="1912990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C76612-D74D-4DD3-9428-C4102F9FF855}"/>
              </a:ext>
            </a:extLst>
          </p:cNvPr>
          <p:cNvSpPr/>
          <p:nvPr/>
        </p:nvSpPr>
        <p:spPr>
          <a:xfrm>
            <a:off x="496490" y="709702"/>
            <a:ext cx="8265320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Famous JavaScript Frameworks and Libraries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JavaScript has a wide range of libraries and frameworks for front-end and back-end development.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Front-End Frameworks/Libraries: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React.js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Developed by Facebook, used for building UI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Vue.js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Lightweight and easy-to-learn framework for interactive UI.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Angular.js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Developed by Google, used for large-scale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jQuery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Simplifies DOM manipulation and event handling.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Back-End Frameworks: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Node.js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Enables JavaScript to run on the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Express.js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A lightweight framework for building web applications with Node.js.</a:t>
            </a:r>
          </a:p>
        </p:txBody>
      </p:sp>
    </p:spTree>
    <p:extLst>
      <p:ext uri="{BB962C8B-B14F-4D97-AF65-F5344CB8AC3E}">
        <p14:creationId xmlns:p14="http://schemas.microsoft.com/office/powerpoint/2010/main" val="15010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400" dirty="0"/>
              <a:t>A </a:t>
            </a:r>
            <a:r>
              <a:rPr lang="en-GB" sz="2400" b="1" dirty="0"/>
              <a:t>simple difference</a:t>
            </a:r>
            <a:r>
              <a:rPr lang="en-GB" sz="2400" dirty="0"/>
              <a:t> between a </a:t>
            </a:r>
            <a:r>
              <a:rPr lang="en-GB" sz="2400" b="1" dirty="0"/>
              <a:t>library</a:t>
            </a:r>
            <a:r>
              <a:rPr lang="en-GB" sz="2400" dirty="0"/>
              <a:t> and a </a:t>
            </a:r>
            <a:r>
              <a:rPr lang="en-GB" sz="2400" b="1" dirty="0"/>
              <a:t>framework</a:t>
            </a:r>
            <a:r>
              <a:rPr lang="en-GB" sz="2400" dirty="0"/>
              <a:t> is:</a:t>
            </a:r>
            <a:br>
              <a:rPr lang="en-GB" sz="2400" dirty="0"/>
            </a:b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133053" cy="3347807"/>
          </a:xfrm>
        </p:spPr>
        <p:txBody>
          <a:bodyPr>
            <a:normAutofit fontScale="77500" lnSpcReduction="20000"/>
          </a:bodyPr>
          <a:lstStyle/>
          <a:p>
            <a:r>
              <a:rPr lang="en-GB" b="1" dirty="0"/>
              <a:t>Library</a:t>
            </a:r>
            <a:r>
              <a:rPr lang="en-GB" dirty="0"/>
              <a:t> → You call it.</a:t>
            </a:r>
          </a:p>
          <a:p>
            <a:pPr lvl="1"/>
            <a:r>
              <a:rPr lang="en-GB" dirty="0"/>
              <a:t>It’s a collection of functions/tools you use when you need them.</a:t>
            </a:r>
          </a:p>
          <a:p>
            <a:pPr lvl="1"/>
            <a:r>
              <a:rPr lang="en-GB" dirty="0"/>
              <a:t>Example: React (you decide when and how to use its components).</a:t>
            </a:r>
          </a:p>
          <a:p>
            <a:r>
              <a:rPr lang="en-GB" b="1" dirty="0"/>
              <a:t>Framework</a:t>
            </a:r>
            <a:r>
              <a:rPr lang="en-GB" dirty="0"/>
              <a:t> → It calls you.</a:t>
            </a:r>
          </a:p>
          <a:p>
            <a:pPr lvl="1"/>
            <a:r>
              <a:rPr lang="en-GB" dirty="0"/>
              <a:t>It provides a structure, and your code fits into that structure.</a:t>
            </a:r>
          </a:p>
          <a:p>
            <a:pPr lvl="1"/>
            <a:r>
              <a:rPr lang="en-GB" dirty="0"/>
              <a:t>Example: Next.js (it decides how routing, rendering, etc. work, and you follow its rules).</a:t>
            </a:r>
          </a:p>
          <a:p>
            <a:r>
              <a:rPr lang="en-GB" dirty="0"/>
              <a:t>👉 In short:</a:t>
            </a:r>
            <a:br>
              <a:rPr lang="en-GB" dirty="0"/>
            </a:br>
            <a:r>
              <a:rPr lang="en-GB" b="1" dirty="0"/>
              <a:t>Library = you’re in control</a:t>
            </a:r>
            <a:r>
              <a:rPr lang="en-GB" dirty="0"/>
              <a:t>.</a:t>
            </a:r>
            <a:br>
              <a:rPr lang="en-GB" dirty="0"/>
            </a:br>
            <a:r>
              <a:rPr lang="en-GB" b="1" dirty="0"/>
              <a:t>Framework = framework is in control, you just fill in the blanks.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718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4014E0-E4C6-46D5-8D3F-5672F7064C99}"/>
              </a:ext>
            </a:extLst>
          </p:cNvPr>
          <p:cNvSpPr/>
          <p:nvPr/>
        </p:nvSpPr>
        <p:spPr>
          <a:xfrm>
            <a:off x="478265" y="748279"/>
            <a:ext cx="8287482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and the MERN Stack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MERN is a popular JavaScript-based MERN-stack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MongoDB (NoSQL database)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Express.js (Back-end framework)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React.js (Front-end library)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Node.js (Server-side runtime environment)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MERN?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JavaScript across the stack (front-end &amp; back-end).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Faster development with reusable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Scalable and efficient for modern web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615315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F6F43A-3742-43A5-B14F-885BCCEDE24E}"/>
              </a:ext>
            </a:extLst>
          </p:cNvPr>
          <p:cNvSpPr/>
          <p:nvPr/>
        </p:nvSpPr>
        <p:spPr>
          <a:xfrm>
            <a:off x="461489" y="749975"/>
            <a:ext cx="7696672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Setting Up JavaScript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the Browser Console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Developer Tools (F12 or Ctrl + Shift + I in Chrome).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Navigate to the Console tab.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and execute JavaScript code directly.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console.log("Hello, World!");</a:t>
            </a:r>
          </a:p>
        </p:txBody>
      </p:sp>
    </p:spTree>
    <p:extLst>
      <p:ext uri="{BB962C8B-B14F-4D97-AF65-F5344CB8AC3E}">
        <p14:creationId xmlns:p14="http://schemas.microsoft.com/office/powerpoint/2010/main" val="572330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42FFDB6-B86C-47EE-95C6-D935204D7A87}"/>
              </a:ext>
            </a:extLst>
          </p:cNvPr>
          <p:cNvSpPr/>
          <p:nvPr/>
        </p:nvSpPr>
        <p:spPr>
          <a:xfrm>
            <a:off x="440059" y="808017"/>
            <a:ext cx="8003853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Adding JavaScript to HTML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JavaScript can be added inside an HTML file in two ways: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JavaScript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Writing JavaScript code directly inside the HTML file within a &lt;script&gt; tag.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&lt;script&gt;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console.log("Hello, JavaScript!");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617024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EA8848-866D-4125-9D1D-09904EB03A5E}"/>
              </a:ext>
            </a:extLst>
          </p:cNvPr>
          <p:cNvSpPr/>
          <p:nvPr/>
        </p:nvSpPr>
        <p:spPr>
          <a:xfrm>
            <a:off x="457199" y="728841"/>
            <a:ext cx="7400925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JavaScript File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Writing JavaScript in a separate file and linking it using the &lt;script&gt; tag.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 File (index.html):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&lt;script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="script.js"&gt;&lt;/script&gt;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 File (script.js):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console.log("Hello, JavaScript!");</a:t>
            </a:r>
          </a:p>
        </p:txBody>
      </p:sp>
    </p:spTree>
    <p:extLst>
      <p:ext uri="{BB962C8B-B14F-4D97-AF65-F5344CB8AC3E}">
        <p14:creationId xmlns:p14="http://schemas.microsoft.com/office/powerpoint/2010/main" val="271172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BA8184A-8258-4CA9-BF88-33090C41D07E}"/>
              </a:ext>
            </a:extLst>
          </p:cNvPr>
          <p:cNvSpPr/>
          <p:nvPr/>
        </p:nvSpPr>
        <p:spPr>
          <a:xfrm>
            <a:off x="428624" y="686634"/>
            <a:ext cx="7793832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Editor Setup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 Visual Studio Code (VS Code) or any code editor.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 HTML file (index.html) and a JavaScript file (script.js).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 the JavaScript file inside the HTML file before the closing &lt;/body&gt; tag for better performance.</a:t>
            </a:r>
          </a:p>
        </p:txBody>
      </p:sp>
    </p:spTree>
    <p:extLst>
      <p:ext uri="{BB962C8B-B14F-4D97-AF65-F5344CB8AC3E}">
        <p14:creationId xmlns:p14="http://schemas.microsoft.com/office/powerpoint/2010/main" val="3589178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46D364-5FEE-4DC0-8CCC-0D9814B2DB05}"/>
              </a:ext>
            </a:extLst>
          </p:cNvPr>
          <p:cNvSpPr/>
          <p:nvPr/>
        </p:nvSpPr>
        <p:spPr>
          <a:xfrm>
            <a:off x="426987" y="780573"/>
            <a:ext cx="37850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Writing Your First JavaScript Code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139645-4B9C-4A11-8FC9-00B837B67EE0}"/>
              </a:ext>
            </a:extLst>
          </p:cNvPr>
          <p:cNvSpPr/>
          <p:nvPr/>
        </p:nvSpPr>
        <p:spPr>
          <a:xfrm>
            <a:off x="426987" y="1155978"/>
            <a:ext cx="750257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Console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console.log() method is used for debugging and printing messages to the console.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console.log("Hello, JavaScript!");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E9E3AB-1DAD-4A0A-8568-7CE473D73731}"/>
              </a:ext>
            </a:extLst>
          </p:cNvPr>
          <p:cNvSpPr/>
          <p:nvPr/>
        </p:nvSpPr>
        <p:spPr>
          <a:xfrm>
            <a:off x="426987" y="3005673"/>
            <a:ext cx="655960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Alert 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alert() function displays a popup message to the user.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alert("Welcome to JavaScript!");</a:t>
            </a:r>
          </a:p>
        </p:txBody>
      </p:sp>
    </p:spTree>
    <p:extLst>
      <p:ext uri="{BB962C8B-B14F-4D97-AF65-F5344CB8AC3E}">
        <p14:creationId xmlns:p14="http://schemas.microsoft.com/office/powerpoint/2010/main" val="3182153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F91987-D7A7-408E-851D-822D95FFB3E8}"/>
              </a:ext>
            </a:extLst>
          </p:cNvPr>
          <p:cNvSpPr/>
          <p:nvPr/>
        </p:nvSpPr>
        <p:spPr>
          <a:xfrm>
            <a:off x="457199" y="838975"/>
            <a:ext cx="7400926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Writing into the HTML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document.writeln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method writes content directly into the HTML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document.writeln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("Welcome to JavaScript!");</a:t>
            </a:r>
          </a:p>
        </p:txBody>
      </p:sp>
    </p:spTree>
    <p:extLst>
      <p:ext uri="{BB962C8B-B14F-4D97-AF65-F5344CB8AC3E}">
        <p14:creationId xmlns:p14="http://schemas.microsoft.com/office/powerpoint/2010/main" val="1181350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2D96AA9-BA84-46CE-A9CB-73645EF910C1}"/>
              </a:ext>
            </a:extLst>
          </p:cNvPr>
          <p:cNvSpPr/>
          <p:nvPr/>
        </p:nvSpPr>
        <p:spPr>
          <a:xfrm>
            <a:off x="492918" y="848201"/>
            <a:ext cx="7486650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 Task 1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JavaScript?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 you include JavaScript in an HTML file?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console.log() used for?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JavaScript script to print "Hello, JavaScript!" in the console.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an alert box in JavaScript?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script to display an alert box with the message "Welcome to JavaScript!".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 some popular JavaScript frameworks and their uses.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MERN stack?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JavaScript and PHP.</a:t>
            </a:r>
          </a:p>
        </p:txBody>
      </p:sp>
    </p:spTree>
    <p:extLst>
      <p:ext uri="{BB962C8B-B14F-4D97-AF65-F5344CB8AC3E}">
        <p14:creationId xmlns:p14="http://schemas.microsoft.com/office/powerpoint/2010/main" val="678475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2EC73A5-44C7-46E8-AB3B-57119B14DE17}"/>
              </a:ext>
            </a:extLst>
          </p:cNvPr>
          <p:cNvSpPr/>
          <p:nvPr/>
        </p:nvSpPr>
        <p:spPr>
          <a:xfrm>
            <a:off x="1794637" y="1786920"/>
            <a:ext cx="555472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206165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7266</TotalTime>
  <Words>941</Words>
  <Application>Microsoft Office PowerPoint</Application>
  <PresentationFormat>On-screen Show (16:9)</PresentationFormat>
  <Paragraphs>118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Lucida Sans Unicode</vt:lpstr>
      <vt:lpstr>Verdana</vt:lpstr>
      <vt:lpstr>Wingdings 2</vt:lpstr>
      <vt:lpstr>Wingdings 3</vt:lpstr>
      <vt:lpstr>Concourse</vt:lpstr>
      <vt:lpstr>JAVASCRIPT</vt:lpstr>
      <vt:lpstr>PowerPoint Presentation</vt:lpstr>
      <vt:lpstr>PowerPoint Presentation</vt:lpstr>
      <vt:lpstr>PowerPoint Presentation</vt:lpstr>
      <vt:lpstr>PowerPoint Presentation</vt:lpstr>
      <vt:lpstr>A simple difference between a library and a framework is: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WAQAS KHAN</cp:lastModifiedBy>
  <cp:revision>307</cp:revision>
  <dcterms:modified xsi:type="dcterms:W3CDTF">2026-03-02T09:25:04Z</dcterms:modified>
</cp:coreProperties>
</file>